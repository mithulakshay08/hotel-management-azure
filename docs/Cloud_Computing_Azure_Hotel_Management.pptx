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takes the Hotel Management System we built for the database course and deploys it on Microsoft Azure. The application already works; what we are presenting is the cloud architecture, the infrastructure code that builds it, and the reasoning behind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framing: this is a migration project, not a rewrite. The application is finished. What we are designing and building is the infrastructure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and the objectives that answer them. The last objective - infrastructure as code - is the one that distinguishes this from a design exercise, because it is the part we actually wrote and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rows are a straight relocation. The last two are genuine improvements: the credential moves out of source control into Key Vault, and the environment becomes reproducible instead of hand-built.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likely question is which model the project uses. The honest answer is all three, at different layers. Being able to place each component is what the examiner is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one chosen, with the reasons. The last line matters: being able to say when your own choice would be wrong is usually what separates a good answer from a memorised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The security property worth stating out loud: nothing except the Application Gateway is reachable from the internet. The VMs have no public IP and the database has no public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services, each tagged with the syllabus concept it demonstrates. If the examiner asks where a particular idea appears in the project, this slide is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our project from a design exercise. The infrastructure is real, validated code. We can run the compile in front of you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point here is step three. It is a real operational detail that we handled in the template rather than discovering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common viva question is the difference between scalability and elasticity. Scalability is the capability; elasticity is the automation of it in both directions. Our autoscale profile is the elastic part, and the cooldowns are what stop it oscillating.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RTO and RPO; they are asked constantly. And raise the Burstable limitation yourself rather than being caught by it - the template exposes an output saying whether HA is genuinely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from this slide, make it the shared responsibility model with a concrete example on each side: Azure patches the hypervisor, we decide who may read the guests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 cloud is always cheaper - it is not, and a sharp examiner will test that. Our destroy script exists precisely because an idle Application Gateway will drain a student subscription over a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this. Saying the infrastructure is written and validated but not yet provisioned is far stronger than implying a deployment that cannot be shown. And the reproducibility argument is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weaknesses yourself is much stronger than being caught by them. The Streamlit session-state point is one most teams miss entirely when they put a stateful app behind a load balancer.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architectural point: the migration is cheap precisely because the application was layered properly from the start. That ties the cloud work back to the database work and shows the two courses connecting.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can walk through the Bicep templates or the architecture in more detail if you would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AD7CD"/>
        </a:solidFill>
      </p:bgPr>
    </p:bg>
    <p:spTree>
      <p:nvGrpSpPr>
        <p:cNvPr id="1" name=""/>
        <p:cNvGrpSpPr/>
        <p:nvPr/>
      </p:nvGrpSpPr>
      <p:grpSpPr>
        <a:xfrm>
          <a:off x="0" y="0"/>
          <a:ext cx="0" cy="0"/>
          <a:chOff x="0" y="0"/>
          <a:chExt cx="0" cy="0"/>
        </a:xfrm>
      </p:grpSpPr>
      <p:sp>
        <p:nvSpPr>
          <p:cNvPr id="2" name="Text 0"/>
          <p:cNvSpPr/>
          <p:nvPr/>
        </p:nvSpPr>
        <p:spPr>
          <a:xfrm>
            <a:off x="731520" y="1600200"/>
            <a:ext cx="10698480" cy="1371600"/>
          </a:xfrm>
          <a:prstGeom prst="rect">
            <a:avLst/>
          </a:prstGeom>
          <a:noFill/>
          <a:ln/>
        </p:spPr>
        <p:txBody>
          <a:bodyPr wrap="square" rtlCol="0" anchor="ctr"/>
          <a:lstStyle/>
          <a:p>
            <a:pPr algn="ctr" indent="0" marL="0">
              <a:buNone/>
            </a:pPr>
            <a:r>
              <a:rPr lang="en-US" sz="4800" b="1" spc="100" kern="0" dirty="0">
                <a:solidFill>
                  <a:srgbClr val="344E41"/>
                </a:solidFill>
                <a:latin typeface="Calibri" pitchFamily="34" charset="0"/>
                <a:ea typeface="Calibri" pitchFamily="34" charset="-122"/>
                <a:cs typeface="Calibri" pitchFamily="34" charset="-120"/>
              </a:rPr>
              <a:t>HOTEL MANAGEMENT SYSTEM</a:t>
            </a:r>
            <a:endParaRPr lang="en-US" sz="4800" dirty="0"/>
          </a:p>
        </p:txBody>
      </p:sp>
      <p:sp>
        <p:nvSpPr>
          <p:cNvPr id="3" name="Text 1"/>
          <p:cNvSpPr/>
          <p:nvPr/>
        </p:nvSpPr>
        <p:spPr>
          <a:xfrm>
            <a:off x="731520" y="2926080"/>
            <a:ext cx="10698480" cy="457200"/>
          </a:xfrm>
          <a:prstGeom prst="rect">
            <a:avLst/>
          </a:prstGeom>
          <a:noFill/>
          <a:ln/>
        </p:spPr>
        <p:txBody>
          <a:bodyPr wrap="square" rtlCol="0" anchor="ctr"/>
          <a:lstStyle/>
          <a:p>
            <a:pPr algn="ctr" indent="0" marL="0">
              <a:buNone/>
            </a:pPr>
            <a:r>
              <a:rPr lang="en-US" sz="2200" dirty="0">
                <a:solidFill>
                  <a:srgbClr val="588157"/>
                </a:solidFill>
                <a:latin typeface="Calibri" pitchFamily="34" charset="0"/>
                <a:ea typeface="Calibri" pitchFamily="34" charset="-122"/>
                <a:cs typeface="Calibri" pitchFamily="34" charset="-120"/>
              </a:rPr>
              <a:t>Deployment on Microsoft Azure</a:t>
            </a:r>
            <a:endParaRPr lang="en-US" sz="2200" dirty="0"/>
          </a:p>
        </p:txBody>
      </p:sp>
      <p:sp>
        <p:nvSpPr>
          <p:cNvPr id="4" name="Shape 2"/>
          <p:cNvSpPr/>
          <p:nvPr/>
        </p:nvSpPr>
        <p:spPr>
          <a:xfrm>
            <a:off x="4937760" y="3611880"/>
            <a:ext cx="2286000" cy="27432"/>
          </a:xfrm>
          <a:prstGeom prst="rect">
            <a:avLst/>
          </a:prstGeom>
          <a:solidFill>
            <a:srgbClr val="A3B18A"/>
          </a:solidFill>
          <a:ln/>
        </p:spPr>
      </p:sp>
      <p:sp>
        <p:nvSpPr>
          <p:cNvPr id="5" name="Text 3"/>
          <p:cNvSpPr/>
          <p:nvPr/>
        </p:nvSpPr>
        <p:spPr>
          <a:xfrm>
            <a:off x="6583680" y="4069080"/>
            <a:ext cx="4846320" cy="320040"/>
          </a:xfrm>
          <a:prstGeom prst="rect">
            <a:avLst/>
          </a:prstGeom>
          <a:noFill/>
          <a:ln/>
        </p:spPr>
        <p:txBody>
          <a:bodyPr wrap="square" rtlCol="0" anchor="ctr"/>
          <a:lstStyle/>
          <a:p>
            <a:pPr algn="r" indent="0" marL="0">
              <a:buNone/>
            </a:pPr>
            <a:r>
              <a:rPr lang="en-US" sz="1400" b="1" dirty="0">
                <a:solidFill>
                  <a:srgbClr val="344E41"/>
                </a:solidFill>
                <a:latin typeface="Calibri" pitchFamily="34" charset="0"/>
                <a:ea typeface="Calibri" pitchFamily="34" charset="-122"/>
                <a:cs typeface="Calibri" pitchFamily="34" charset="-120"/>
              </a:rPr>
              <a:t>TEAM NUMBER : 03</a:t>
            </a:r>
            <a:endParaRPr lang="en-US" sz="1400" dirty="0"/>
          </a:p>
        </p:txBody>
      </p:sp>
      <p:sp>
        <p:nvSpPr>
          <p:cNvPr id="6" name="Text 4"/>
          <p:cNvSpPr/>
          <p:nvPr/>
        </p:nvSpPr>
        <p:spPr>
          <a:xfrm>
            <a:off x="6583680" y="4434840"/>
            <a:ext cx="4846320" cy="1371600"/>
          </a:xfrm>
          <a:prstGeom prst="rect">
            <a:avLst/>
          </a:prstGeom>
          <a:noFill/>
          <a:ln/>
        </p:spPr>
        <p:txBody>
          <a:bodyPr wrap="square" rtlCol="0" anchor="ctr"/>
          <a:lstStyle/>
          <a:p>
            <a:pPr algn="r" indent="0" marL="0">
              <a:lnSpc>
                <a:spcPts val="2000"/>
              </a:lnSpc>
              <a:buNone/>
            </a:pPr>
            <a:r>
              <a:rPr lang="en-US" sz="1250" dirty="0">
                <a:solidFill>
                  <a:srgbClr val="344E41"/>
                </a:solidFill>
                <a:latin typeface="Calibri" pitchFamily="34" charset="0"/>
                <a:ea typeface="Calibri" pitchFamily="34" charset="-122"/>
                <a:cs typeface="Calibri" pitchFamily="34" charset="-120"/>
              </a:rPr>
              <a:t>CB.SC.U4AIE24116 - J. Lakshmi Tejaswi</a:t>
            </a:r>
            <a:endParaRPr lang="en-US" sz="1250" dirty="0"/>
          </a:p>
          <a:p>
            <a:pPr algn="r" indent="0" marL="0">
              <a:lnSpc>
                <a:spcPts val="2000"/>
              </a:lnSpc>
              <a:buNone/>
            </a:pPr>
            <a:r>
              <a:rPr lang="en-US" sz="1250" dirty="0">
                <a:solidFill>
                  <a:srgbClr val="344E41"/>
                </a:solidFill>
                <a:latin typeface="Calibri" pitchFamily="34" charset="0"/>
                <a:ea typeface="Calibri" pitchFamily="34" charset="-122"/>
                <a:cs typeface="Calibri" pitchFamily="34" charset="-120"/>
              </a:rPr>
              <a:t>CB.SC.U4AIE24130 - Vishnu Teja</a:t>
            </a:r>
            <a:endParaRPr lang="en-US" sz="1250" dirty="0"/>
          </a:p>
          <a:p>
            <a:pPr algn="r" indent="0" marL="0">
              <a:lnSpc>
                <a:spcPts val="2000"/>
              </a:lnSpc>
              <a:buNone/>
            </a:pPr>
            <a:r>
              <a:rPr lang="en-US" sz="1250" dirty="0">
                <a:solidFill>
                  <a:srgbClr val="344E41"/>
                </a:solidFill>
                <a:latin typeface="Calibri" pitchFamily="34" charset="0"/>
                <a:ea typeface="Calibri" pitchFamily="34" charset="-122"/>
                <a:cs typeface="Calibri" pitchFamily="34" charset="-120"/>
              </a:rPr>
              <a:t>CB.SC.U4AIE24135 - Mithul Akshay</a:t>
            </a:r>
            <a:endParaRPr lang="en-US" sz="1250" dirty="0"/>
          </a:p>
          <a:p>
            <a:pPr algn="r" indent="0" marL="0">
              <a:lnSpc>
                <a:spcPts val="2000"/>
              </a:lnSpc>
              <a:buNone/>
            </a:pPr>
            <a:r>
              <a:rPr lang="en-US" sz="1250" dirty="0">
                <a:solidFill>
                  <a:srgbClr val="344E41"/>
                </a:solidFill>
                <a:latin typeface="Calibri" pitchFamily="34" charset="0"/>
                <a:ea typeface="Calibri" pitchFamily="34" charset="-122"/>
                <a:cs typeface="Calibri" pitchFamily="34" charset="-120"/>
              </a:rPr>
              <a:t>CB.SC.U4AIE24136 - Mohan Innani</a:t>
            </a:r>
            <a:endParaRPr lang="en-US" sz="1250" dirty="0"/>
          </a:p>
        </p:txBody>
      </p:sp>
      <p:sp>
        <p:nvSpPr>
          <p:cNvPr id="7" name="Shape 5"/>
          <p:cNvSpPr/>
          <p:nvPr/>
        </p:nvSpPr>
        <p:spPr>
          <a:xfrm>
            <a:off x="0" y="6455664"/>
            <a:ext cx="12188952" cy="402336"/>
          </a:xfrm>
          <a:prstGeom prst="rect">
            <a:avLst/>
          </a:prstGeom>
          <a:solidFill>
            <a:srgbClr val="A3B18A"/>
          </a:solidFill>
          <a:ln/>
        </p:spPr>
      </p:sp>
      <p:sp>
        <p:nvSpPr>
          <p:cNvPr id="8" name="Text 6"/>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9" name="Text 7"/>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Introduction</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What the system is, and why it moves to the cloud</a:t>
            </a:r>
            <a:endParaRPr lang="en-US" sz="1250" dirty="0"/>
          </a:p>
        </p:txBody>
      </p:sp>
      <p:sp>
        <p:nvSpPr>
          <p:cNvPr id="8" name="Text 6"/>
          <p:cNvSpPr/>
          <p:nvPr/>
        </p:nvSpPr>
        <p:spPr>
          <a:xfrm>
            <a:off x="548640" y="1508760"/>
            <a:ext cx="11064240" cy="3108960"/>
          </a:xfrm>
          <a:prstGeom prst="rect">
            <a:avLst/>
          </a:prstGeom>
          <a:noFill/>
          <a:ln/>
        </p:spPr>
        <p:txBody>
          <a:bodyPr wrap="square" rtlCol="0" anchor="t"/>
          <a:lstStyle/>
          <a:p>
            <a:pPr marL="342900" indent="-342900">
              <a:lnSpc>
                <a:spcPts val="1820"/>
              </a:lnSpc>
              <a:spcAft>
                <a:spcPts val="700"/>
              </a:spcAft>
              <a:buSzPct val="100000"/>
              <a:buChar char="▪"/>
            </a:pPr>
            <a:r>
              <a:rPr lang="en-US" sz="1300" dirty="0">
                <a:solidFill>
                  <a:srgbClr val="344E41"/>
                </a:solidFill>
                <a:latin typeface="Calibri" pitchFamily="34" charset="0"/>
                <a:ea typeface="Calibri" pitchFamily="34" charset="-122"/>
                <a:cs typeface="Calibri" pitchFamily="34" charset="-120"/>
              </a:rPr>
              <a:t>The Hotel Management System handles guest registration, room inventory, bookings, check-in and check-out, billing and payments.</a:t>
            </a:r>
            <a:endParaRPr lang="en-US" sz="1300" dirty="0"/>
          </a:p>
          <a:p>
            <a:pPr marL="342900" indent="-342900">
              <a:lnSpc>
                <a:spcPts val="1820"/>
              </a:lnSpc>
              <a:spcAft>
                <a:spcPts val="700"/>
              </a:spcAft>
              <a:buSzPct val="100000"/>
              <a:buChar char="▪"/>
            </a:pPr>
            <a:r>
              <a:rPr lang="en-US" sz="1300" dirty="0">
                <a:solidFill>
                  <a:srgbClr val="344E41"/>
                </a:solidFill>
                <a:latin typeface="Calibri" pitchFamily="34" charset="0"/>
                <a:ea typeface="Calibri" pitchFamily="34" charset="-122"/>
                <a:cs typeface="Calibri" pitchFamily="34" charset="-120"/>
              </a:rPr>
              <a:t>It is already built and working as a three-tier application: a Streamlit web front end, a Python data access layer, and a MySQL database of six normalised tables.</a:t>
            </a:r>
            <a:endParaRPr lang="en-US" sz="1300" dirty="0"/>
          </a:p>
          <a:p>
            <a:pPr marL="342900" indent="-342900">
              <a:lnSpc>
                <a:spcPts val="1820"/>
              </a:lnSpc>
              <a:spcAft>
                <a:spcPts val="700"/>
              </a:spcAft>
              <a:buSzPct val="100000"/>
              <a:buChar char="▪"/>
            </a:pPr>
            <a:r>
              <a:rPr lang="en-US" sz="1300" dirty="0">
                <a:solidFill>
                  <a:srgbClr val="344E41"/>
                </a:solidFill>
                <a:latin typeface="Calibri" pitchFamily="34" charset="0"/>
                <a:ea typeface="Calibri" pitchFamily="34" charset="-122"/>
                <a:cs typeface="Calibri" pitchFamily="34" charset="-120"/>
              </a:rPr>
              <a:t>Today it runs on a single machine. That machine is a single point of failure, is reachable from nowhere else, and has a capacity fixed by the hardware it sits on.</a:t>
            </a:r>
            <a:endParaRPr lang="en-US" sz="1300" dirty="0"/>
          </a:p>
          <a:p>
            <a:pPr marL="342900" indent="-342900">
              <a:lnSpc>
                <a:spcPts val="1820"/>
              </a:lnSpc>
              <a:spcAft>
                <a:spcPts val="700"/>
              </a:spcAft>
              <a:buSzPct val="100000"/>
              <a:buChar char="▪"/>
            </a:pPr>
            <a:r>
              <a:rPr lang="en-US" sz="1300" dirty="0">
                <a:solidFill>
                  <a:srgbClr val="344E41"/>
                </a:solidFill>
                <a:latin typeface="Calibri" pitchFamily="34" charset="0"/>
                <a:ea typeface="Calibri" pitchFamily="34" charset="-122"/>
                <a:cs typeface="Calibri" pitchFamily="34" charset="-120"/>
              </a:rPr>
              <a:t>This project migrates the system to Microsoft Azure so it becomes highly available, reachable from anywhere, and able to grow and shrink with demand.</a:t>
            </a:r>
            <a:endParaRPr lang="en-US" sz="1300" dirty="0"/>
          </a:p>
          <a:p>
            <a:pPr marL="342900" indent="-342900">
              <a:lnSpc>
                <a:spcPts val="1820"/>
              </a:lnSpc>
              <a:spcAft>
                <a:spcPts val="700"/>
              </a:spcAft>
              <a:buSzPct val="100000"/>
              <a:buChar char="▪"/>
            </a:pPr>
            <a:r>
              <a:rPr lang="en-US" sz="1300" dirty="0">
                <a:solidFill>
                  <a:srgbClr val="344E41"/>
                </a:solidFill>
                <a:latin typeface="Calibri" pitchFamily="34" charset="0"/>
                <a:ea typeface="Calibri" pitchFamily="34" charset="-122"/>
                <a:cs typeface="Calibri" pitchFamily="34" charset="-120"/>
              </a:rPr>
              <a:t>The whole environment is defined as code, so it can be created, destroyed and recreated identically rather than assembled by hand through a portal.</a:t>
            </a:r>
            <a:endParaRPr lang="en-US" sz="1300" dirty="0"/>
          </a:p>
        </p:txBody>
      </p:sp>
      <p:sp>
        <p:nvSpPr>
          <p:cNvPr id="9" name="Shape 7"/>
          <p:cNvSpPr/>
          <p:nvPr/>
        </p:nvSpPr>
        <p:spPr>
          <a:xfrm>
            <a:off x="548640" y="4892040"/>
            <a:ext cx="11064240" cy="1280160"/>
          </a:xfrm>
          <a:prstGeom prst="roundRect">
            <a:avLst>
              <a:gd name="adj" fmla="val 3571"/>
            </a:avLst>
          </a:prstGeom>
          <a:solidFill>
            <a:srgbClr val="A3B18A"/>
          </a:solidFill>
          <a:ln w="12700">
            <a:solidFill>
              <a:srgbClr val="C3CBB5"/>
            </a:solidFill>
            <a:prstDash val="solid"/>
          </a:ln>
        </p:spPr>
      </p:sp>
      <p:sp>
        <p:nvSpPr>
          <p:cNvPr id="10" name="Text 8"/>
          <p:cNvSpPr/>
          <p:nvPr/>
        </p:nvSpPr>
        <p:spPr>
          <a:xfrm>
            <a:off x="822960" y="5029200"/>
            <a:ext cx="3657600" cy="274320"/>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Scope of this project</a:t>
            </a:r>
            <a:endParaRPr lang="en-US" sz="1250" dirty="0"/>
          </a:p>
        </p:txBody>
      </p:sp>
      <p:sp>
        <p:nvSpPr>
          <p:cNvPr id="11" name="Text 9"/>
          <p:cNvSpPr/>
          <p:nvPr/>
        </p:nvSpPr>
        <p:spPr>
          <a:xfrm>
            <a:off x="822960" y="5349240"/>
            <a:ext cx="10515600" cy="685800"/>
          </a:xfrm>
          <a:prstGeom prst="rect">
            <a:avLst/>
          </a:prstGeom>
          <a:noFill/>
          <a:ln/>
        </p:spPr>
        <p:txBody>
          <a:bodyPr wrap="square" rtlCol="0" anchor="ctr"/>
          <a:lstStyle/>
          <a:p>
            <a:pPr indent="0" marL="0">
              <a:lnSpc>
                <a:spcPts val="1600"/>
              </a:lnSpc>
              <a:buNone/>
            </a:pPr>
            <a:r>
              <a:rPr lang="en-US" sz="1150" dirty="0">
                <a:solidFill>
                  <a:srgbClr val="344E41"/>
                </a:solidFill>
                <a:latin typeface="Calibri" pitchFamily="34" charset="0"/>
                <a:ea typeface="Calibri" pitchFamily="34" charset="-122"/>
                <a:cs typeface="Calibri" pitchFamily="34" charset="-120"/>
              </a:rPr>
              <a:t>The application logic is not rewritten. What changes is where it runs, who is responsible for the layers beneath it, and how it is provisioned. That is a deliberate choice: a migration is cheapest when the application was layered properly to begin with, which is what the database project established.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3</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Problem Statement &amp; Objectives</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Six limitations of the local deployment, and what the cloud design sets out to fix</a:t>
            </a:r>
            <a:endParaRPr lang="en-US" sz="1250" dirty="0"/>
          </a:p>
        </p:txBody>
      </p:sp>
      <p:sp>
        <p:nvSpPr>
          <p:cNvPr id="8" name="Shape 6"/>
          <p:cNvSpPr/>
          <p:nvPr/>
        </p:nvSpPr>
        <p:spPr>
          <a:xfrm>
            <a:off x="548640" y="1508760"/>
            <a:ext cx="3520440" cy="1691640"/>
          </a:xfrm>
          <a:prstGeom prst="roundRect">
            <a:avLst>
              <a:gd name="adj" fmla="val 2703"/>
            </a:avLst>
          </a:prstGeom>
          <a:solidFill>
            <a:srgbClr val="FFFFFF"/>
          </a:solidFill>
          <a:ln w="12700">
            <a:solidFill>
              <a:srgbClr val="C3CBB5"/>
            </a:solidFill>
            <a:prstDash val="solid"/>
          </a:ln>
        </p:spPr>
      </p:sp>
      <p:sp>
        <p:nvSpPr>
          <p:cNvPr id="9" name="Text 7"/>
          <p:cNvSpPr/>
          <p:nvPr/>
        </p:nvSpPr>
        <p:spPr>
          <a:xfrm>
            <a:off x="749808" y="16367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Single point of failure</a:t>
            </a:r>
            <a:endParaRPr lang="en-US" sz="1350" dirty="0"/>
          </a:p>
        </p:txBody>
      </p:sp>
      <p:sp>
        <p:nvSpPr>
          <p:cNvPr id="10" name="Text 8"/>
          <p:cNvSpPr/>
          <p:nvPr/>
        </p:nvSpPr>
        <p:spPr>
          <a:xfrm>
            <a:off x="749808" y="1965960"/>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Application and database share one machine. If it fails, the hotel cannot take a booking until it is repaired.</a:t>
            </a:r>
            <a:endParaRPr lang="en-US" sz="1100" dirty="0"/>
          </a:p>
        </p:txBody>
      </p:sp>
      <p:sp>
        <p:nvSpPr>
          <p:cNvPr id="11" name="Shape 9"/>
          <p:cNvSpPr/>
          <p:nvPr/>
        </p:nvSpPr>
        <p:spPr>
          <a:xfrm>
            <a:off x="4325112" y="1508760"/>
            <a:ext cx="3520440" cy="1691640"/>
          </a:xfrm>
          <a:prstGeom prst="roundRect">
            <a:avLst>
              <a:gd name="adj" fmla="val 2703"/>
            </a:avLst>
          </a:prstGeom>
          <a:solidFill>
            <a:srgbClr val="FFFFFF"/>
          </a:solidFill>
          <a:ln w="12700">
            <a:solidFill>
              <a:srgbClr val="C3CBB5"/>
            </a:solidFill>
            <a:prstDash val="solid"/>
          </a:ln>
        </p:spPr>
      </p:sp>
      <p:sp>
        <p:nvSpPr>
          <p:cNvPr id="12" name="Text 10"/>
          <p:cNvSpPr/>
          <p:nvPr/>
        </p:nvSpPr>
        <p:spPr>
          <a:xfrm>
            <a:off x="4526280" y="16367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No remote access</a:t>
            </a:r>
            <a:endParaRPr lang="en-US" sz="1350" dirty="0"/>
          </a:p>
        </p:txBody>
      </p:sp>
      <p:sp>
        <p:nvSpPr>
          <p:cNvPr id="13" name="Text 11"/>
          <p:cNvSpPr/>
          <p:nvPr/>
        </p:nvSpPr>
        <p:spPr>
          <a:xfrm>
            <a:off x="4526280" y="1965960"/>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Staff can only work at that one computer. A manager cannot check occupancy from another branch.</a:t>
            </a:r>
            <a:endParaRPr lang="en-US" sz="1100" dirty="0"/>
          </a:p>
        </p:txBody>
      </p:sp>
      <p:sp>
        <p:nvSpPr>
          <p:cNvPr id="14" name="Shape 12"/>
          <p:cNvSpPr/>
          <p:nvPr/>
        </p:nvSpPr>
        <p:spPr>
          <a:xfrm>
            <a:off x="8101584" y="1508760"/>
            <a:ext cx="3520440" cy="1691640"/>
          </a:xfrm>
          <a:prstGeom prst="roundRect">
            <a:avLst>
              <a:gd name="adj" fmla="val 2703"/>
            </a:avLst>
          </a:prstGeom>
          <a:solidFill>
            <a:srgbClr val="FFFFFF"/>
          </a:solidFill>
          <a:ln w="12700">
            <a:solidFill>
              <a:srgbClr val="C3CBB5"/>
            </a:solidFill>
            <a:prstDash val="solid"/>
          </a:ln>
        </p:spPr>
      </p:sp>
      <p:sp>
        <p:nvSpPr>
          <p:cNvPr id="15" name="Text 13"/>
          <p:cNvSpPr/>
          <p:nvPr/>
        </p:nvSpPr>
        <p:spPr>
          <a:xfrm>
            <a:off x="8302752" y="16367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Fixed capacity</a:t>
            </a:r>
            <a:endParaRPr lang="en-US" sz="1350" dirty="0"/>
          </a:p>
        </p:txBody>
      </p:sp>
      <p:sp>
        <p:nvSpPr>
          <p:cNvPr id="16" name="Text 14"/>
          <p:cNvSpPr/>
          <p:nvPr/>
        </p:nvSpPr>
        <p:spPr>
          <a:xfrm>
            <a:off x="8302752" y="1965960"/>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Hardware is sized for peak season and idles the rest of the year. A surge means buying a bigger machine.</a:t>
            </a:r>
            <a:endParaRPr lang="en-US" sz="1100" dirty="0"/>
          </a:p>
        </p:txBody>
      </p:sp>
      <p:sp>
        <p:nvSpPr>
          <p:cNvPr id="17" name="Shape 15"/>
          <p:cNvSpPr/>
          <p:nvPr/>
        </p:nvSpPr>
        <p:spPr>
          <a:xfrm>
            <a:off x="548640" y="3456432"/>
            <a:ext cx="3520440" cy="1691640"/>
          </a:xfrm>
          <a:prstGeom prst="roundRect">
            <a:avLst>
              <a:gd name="adj" fmla="val 2703"/>
            </a:avLst>
          </a:prstGeom>
          <a:solidFill>
            <a:srgbClr val="FFFFFF"/>
          </a:solidFill>
          <a:ln w="12700">
            <a:solidFill>
              <a:srgbClr val="C3CBB5"/>
            </a:solidFill>
            <a:prstDash val="solid"/>
          </a:ln>
        </p:spPr>
      </p:sp>
      <p:sp>
        <p:nvSpPr>
          <p:cNvPr id="18" name="Text 16"/>
          <p:cNvSpPr/>
          <p:nvPr/>
        </p:nvSpPr>
        <p:spPr>
          <a:xfrm>
            <a:off x="749808" y="35844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Manual backups</a:t>
            </a:r>
            <a:endParaRPr lang="en-US" sz="1350" dirty="0"/>
          </a:p>
        </p:txBody>
      </p:sp>
      <p:sp>
        <p:nvSpPr>
          <p:cNvPr id="19" name="Text 17"/>
          <p:cNvSpPr/>
          <p:nvPr/>
        </p:nvSpPr>
        <p:spPr>
          <a:xfrm>
            <a:off x="749808" y="3913632"/>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Backups depend on someone remembering. A disk failure loses every guest and payment record.</a:t>
            </a:r>
            <a:endParaRPr lang="en-US" sz="1100" dirty="0"/>
          </a:p>
        </p:txBody>
      </p:sp>
      <p:sp>
        <p:nvSpPr>
          <p:cNvPr id="20" name="Shape 18"/>
          <p:cNvSpPr/>
          <p:nvPr/>
        </p:nvSpPr>
        <p:spPr>
          <a:xfrm>
            <a:off x="4325112" y="3456432"/>
            <a:ext cx="3520440" cy="1691640"/>
          </a:xfrm>
          <a:prstGeom prst="roundRect">
            <a:avLst>
              <a:gd name="adj" fmla="val 2703"/>
            </a:avLst>
          </a:prstGeom>
          <a:solidFill>
            <a:srgbClr val="FFFFFF"/>
          </a:solidFill>
          <a:ln w="12700">
            <a:solidFill>
              <a:srgbClr val="C3CBB5"/>
            </a:solidFill>
            <a:prstDash val="solid"/>
          </a:ln>
        </p:spPr>
      </p:sp>
      <p:sp>
        <p:nvSpPr>
          <p:cNvPr id="21" name="Text 19"/>
          <p:cNvSpPr/>
          <p:nvPr/>
        </p:nvSpPr>
        <p:spPr>
          <a:xfrm>
            <a:off x="4526280" y="35844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Capital cost upfront</a:t>
            </a:r>
            <a:endParaRPr lang="en-US" sz="1350" dirty="0"/>
          </a:p>
        </p:txBody>
      </p:sp>
      <p:sp>
        <p:nvSpPr>
          <p:cNvPr id="22" name="Text 20"/>
          <p:cNvSpPr/>
          <p:nvPr/>
        </p:nvSpPr>
        <p:spPr>
          <a:xfrm>
            <a:off x="4526280" y="3913632"/>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Servers and UPS must be bought before the first guest is served, and replaced every few years.</a:t>
            </a:r>
            <a:endParaRPr lang="en-US" sz="1100" dirty="0"/>
          </a:p>
        </p:txBody>
      </p:sp>
      <p:sp>
        <p:nvSpPr>
          <p:cNvPr id="23" name="Shape 21"/>
          <p:cNvSpPr/>
          <p:nvPr/>
        </p:nvSpPr>
        <p:spPr>
          <a:xfrm>
            <a:off x="8101584" y="3456432"/>
            <a:ext cx="3520440" cy="1691640"/>
          </a:xfrm>
          <a:prstGeom prst="roundRect">
            <a:avLst>
              <a:gd name="adj" fmla="val 2703"/>
            </a:avLst>
          </a:prstGeom>
          <a:solidFill>
            <a:srgbClr val="FFFFFF"/>
          </a:solidFill>
          <a:ln w="12700">
            <a:solidFill>
              <a:srgbClr val="C3CBB5"/>
            </a:solidFill>
            <a:prstDash val="solid"/>
          </a:ln>
        </p:spPr>
      </p:sp>
      <p:sp>
        <p:nvSpPr>
          <p:cNvPr id="24" name="Text 22"/>
          <p:cNvSpPr/>
          <p:nvPr/>
        </p:nvSpPr>
        <p:spPr>
          <a:xfrm>
            <a:off x="8302752" y="35844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Maintenance burden</a:t>
            </a:r>
            <a:endParaRPr lang="en-US" sz="1350" dirty="0"/>
          </a:p>
        </p:txBody>
      </p:sp>
      <p:sp>
        <p:nvSpPr>
          <p:cNvPr id="25" name="Text 23"/>
          <p:cNvSpPr/>
          <p:nvPr/>
        </p:nvSpPr>
        <p:spPr>
          <a:xfrm>
            <a:off x="8302752" y="3913632"/>
            <a:ext cx="3118104" cy="10881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Patching the operating system, database and network is the hotel's problem, not a specialist's.</a:t>
            </a:r>
            <a:endParaRPr lang="en-US" sz="1100" dirty="0"/>
          </a:p>
        </p:txBody>
      </p:sp>
      <p:sp>
        <p:nvSpPr>
          <p:cNvPr id="26" name="Shape 24"/>
          <p:cNvSpPr/>
          <p:nvPr/>
        </p:nvSpPr>
        <p:spPr>
          <a:xfrm>
            <a:off x="548640" y="5029200"/>
            <a:ext cx="11064240" cy="1188720"/>
          </a:xfrm>
          <a:prstGeom prst="roundRect">
            <a:avLst>
              <a:gd name="adj" fmla="val 3846"/>
            </a:avLst>
          </a:prstGeom>
          <a:solidFill>
            <a:srgbClr val="3A5A40"/>
          </a:solidFill>
          <a:ln w="12700">
            <a:solidFill>
              <a:srgbClr val="C3CBB5"/>
            </a:solidFill>
            <a:prstDash val="solid"/>
          </a:ln>
        </p:spPr>
      </p:sp>
      <p:sp>
        <p:nvSpPr>
          <p:cNvPr id="27" name="Text 25"/>
          <p:cNvSpPr/>
          <p:nvPr/>
        </p:nvSpPr>
        <p:spPr>
          <a:xfrm>
            <a:off x="822960" y="5138928"/>
            <a:ext cx="2743200" cy="256032"/>
          </a:xfrm>
          <a:prstGeom prst="rect">
            <a:avLst/>
          </a:prstGeom>
          <a:noFill/>
          <a:ln/>
        </p:spPr>
        <p:txBody>
          <a:bodyPr wrap="square" rtlCol="0" anchor="ctr"/>
          <a:lstStyle/>
          <a:p>
            <a:pPr indent="0" marL="0">
              <a:buNone/>
            </a:pPr>
            <a:r>
              <a:rPr lang="en-US" sz="1250" b="1" dirty="0">
                <a:solidFill>
                  <a:srgbClr val="A3B18A"/>
                </a:solidFill>
                <a:latin typeface="Calibri" pitchFamily="34" charset="0"/>
                <a:ea typeface="Calibri" pitchFamily="34" charset="-122"/>
                <a:cs typeface="Calibri" pitchFamily="34" charset="-120"/>
              </a:rPr>
              <a:t>Objectives</a:t>
            </a:r>
            <a:endParaRPr lang="en-US" sz="1250" dirty="0"/>
          </a:p>
        </p:txBody>
      </p:sp>
      <p:sp>
        <p:nvSpPr>
          <p:cNvPr id="28" name="Text 26"/>
          <p:cNvSpPr/>
          <p:nvPr/>
        </p:nvSpPr>
        <p:spPr>
          <a:xfrm>
            <a:off x="822960" y="5440680"/>
            <a:ext cx="10515600" cy="640080"/>
          </a:xfrm>
          <a:prstGeom prst="rect">
            <a:avLst/>
          </a:prstGeom>
          <a:noFill/>
          <a:ln/>
        </p:spPr>
        <p:txBody>
          <a:bodyPr wrap="square" rtlCol="0" anchor="ctr"/>
          <a:lstStyle/>
          <a:p>
            <a:pPr indent="0" marL="0">
              <a:lnSpc>
                <a:spcPts val="1600"/>
              </a:lnSpc>
              <a:buNone/>
            </a:pPr>
            <a:r>
              <a:rPr lang="en-US" sz="1150" dirty="0">
                <a:solidFill>
                  <a:srgbClr val="DAD7CD"/>
                </a:solidFill>
                <a:latin typeface="Calibri" pitchFamily="34" charset="0"/>
                <a:ea typeface="Calibri" pitchFamily="34" charset="-122"/>
                <a:cs typeface="Calibri" pitchFamily="34" charset="-120"/>
              </a:rPr>
              <a:t>Migrate to a public cloud  ·  replace the self-hosted database with a managed service  ·  scale elastically with demand  ·  survive the loss of a datacentre  ·  hold no credential in source code  ·  define the whole environment as reproducible code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4</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Existing System vs Proposed System</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What actually changes when the application moves to Azure</a:t>
            </a:r>
            <a:endParaRPr lang="en-US" sz="1250" dirty="0"/>
          </a:p>
        </p:txBody>
      </p:sp>
      <p:sp>
        <p:nvSpPr>
          <p:cNvPr id="8" name="Shape 6"/>
          <p:cNvSpPr/>
          <p:nvPr/>
        </p:nvSpPr>
        <p:spPr>
          <a:xfrm>
            <a:off x="548640" y="1463040"/>
            <a:ext cx="5349240" cy="4526280"/>
          </a:xfrm>
          <a:prstGeom prst="roundRect">
            <a:avLst>
              <a:gd name="adj" fmla="val 1010"/>
            </a:avLst>
          </a:prstGeom>
          <a:solidFill>
            <a:srgbClr val="FFFFFF"/>
          </a:solidFill>
          <a:ln w="12700">
            <a:solidFill>
              <a:srgbClr val="C3CBB5"/>
            </a:solidFill>
            <a:prstDash val="solid"/>
          </a:ln>
        </p:spPr>
      </p:sp>
      <p:sp>
        <p:nvSpPr>
          <p:cNvPr id="9" name="Shape 7"/>
          <p:cNvSpPr/>
          <p:nvPr/>
        </p:nvSpPr>
        <p:spPr>
          <a:xfrm>
            <a:off x="548640" y="1463040"/>
            <a:ext cx="5349240" cy="530352"/>
          </a:xfrm>
          <a:prstGeom prst="roundRect">
            <a:avLst>
              <a:gd name="adj" fmla="val 8621"/>
            </a:avLst>
          </a:prstGeom>
          <a:solidFill>
            <a:srgbClr val="344E41"/>
          </a:solidFill>
          <a:ln/>
        </p:spPr>
      </p:sp>
      <p:sp>
        <p:nvSpPr>
          <p:cNvPr id="10" name="Text 8"/>
          <p:cNvSpPr/>
          <p:nvPr/>
        </p:nvSpPr>
        <p:spPr>
          <a:xfrm>
            <a:off x="804672" y="1527048"/>
            <a:ext cx="4754880" cy="384048"/>
          </a:xfrm>
          <a:prstGeom prst="rect">
            <a:avLst/>
          </a:prstGeom>
          <a:noFill/>
          <a:ln/>
        </p:spPr>
        <p:txBody>
          <a:bodyPr wrap="square" rtlCol="0" anchor="ctr"/>
          <a:lstStyle/>
          <a:p>
            <a:pPr indent="0" marL="0">
              <a:buNone/>
            </a:pPr>
            <a:r>
              <a:rPr lang="en-US" sz="1400" b="1" dirty="0">
                <a:solidFill>
                  <a:srgbClr val="DAD7CD"/>
                </a:solidFill>
                <a:latin typeface="Calibri" pitchFamily="34" charset="0"/>
                <a:ea typeface="Calibri" pitchFamily="34" charset="-122"/>
                <a:cs typeface="Calibri" pitchFamily="34" charset="-120"/>
              </a:rPr>
              <a:t>ON-PREMISE  (existing)</a:t>
            </a:r>
            <a:endParaRPr lang="en-US" sz="1400" dirty="0"/>
          </a:p>
        </p:txBody>
      </p:sp>
      <p:sp>
        <p:nvSpPr>
          <p:cNvPr id="11" name="Text 9"/>
          <p:cNvSpPr/>
          <p:nvPr/>
        </p:nvSpPr>
        <p:spPr>
          <a:xfrm>
            <a:off x="822960" y="2121408"/>
            <a:ext cx="4846320" cy="3749040"/>
          </a:xfrm>
          <a:prstGeom prst="rect">
            <a:avLst/>
          </a:prstGeom>
          <a:noFill/>
          <a:ln/>
        </p:spPr>
        <p:txBody>
          <a:bodyPr wrap="square" rtlCol="0" anchor="t"/>
          <a:lstStyle/>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Application and database on one laptop</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Reachable only on that machine</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Capacity fixed by the hardware bought</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Backups taken by hand, if at all</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Failure means downtime until repaired</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Large upfront capital expenditure</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Database password sits in db_config.py</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Environment assembled manually, once</a:t>
            </a:r>
            <a:endParaRPr lang="en-US" sz="1150" dirty="0"/>
          </a:p>
        </p:txBody>
      </p:sp>
      <p:sp>
        <p:nvSpPr>
          <p:cNvPr id="12" name="Shape 10"/>
          <p:cNvSpPr/>
          <p:nvPr/>
        </p:nvSpPr>
        <p:spPr>
          <a:xfrm>
            <a:off x="6263640" y="1463040"/>
            <a:ext cx="5349240" cy="4526280"/>
          </a:xfrm>
          <a:prstGeom prst="roundRect">
            <a:avLst>
              <a:gd name="adj" fmla="val 1010"/>
            </a:avLst>
          </a:prstGeom>
          <a:solidFill>
            <a:srgbClr val="FFFFFF"/>
          </a:solidFill>
          <a:ln w="12700">
            <a:solidFill>
              <a:srgbClr val="C3CBB5"/>
            </a:solidFill>
            <a:prstDash val="solid"/>
          </a:ln>
        </p:spPr>
      </p:sp>
      <p:sp>
        <p:nvSpPr>
          <p:cNvPr id="13" name="Shape 11"/>
          <p:cNvSpPr/>
          <p:nvPr/>
        </p:nvSpPr>
        <p:spPr>
          <a:xfrm>
            <a:off x="6263640" y="1463040"/>
            <a:ext cx="5349240" cy="530352"/>
          </a:xfrm>
          <a:prstGeom prst="roundRect">
            <a:avLst>
              <a:gd name="adj" fmla="val 8621"/>
            </a:avLst>
          </a:prstGeom>
          <a:solidFill>
            <a:srgbClr val="588157"/>
          </a:solidFill>
          <a:ln/>
        </p:spPr>
      </p:sp>
      <p:sp>
        <p:nvSpPr>
          <p:cNvPr id="14" name="Text 12"/>
          <p:cNvSpPr/>
          <p:nvPr/>
        </p:nvSpPr>
        <p:spPr>
          <a:xfrm>
            <a:off x="6519672" y="1527048"/>
            <a:ext cx="4754880" cy="384048"/>
          </a:xfrm>
          <a:prstGeom prst="rect">
            <a:avLst/>
          </a:prstGeom>
          <a:noFill/>
          <a:ln/>
        </p:spPr>
        <p:txBody>
          <a:bodyPr wrap="square" rtlCol="0" anchor="ctr"/>
          <a:lstStyle/>
          <a:p>
            <a:pPr indent="0" marL="0">
              <a:buNone/>
            </a:pPr>
            <a:r>
              <a:rPr lang="en-US" sz="1400" b="1" dirty="0">
                <a:solidFill>
                  <a:srgbClr val="DAD7CD"/>
                </a:solidFill>
                <a:latin typeface="Calibri" pitchFamily="34" charset="0"/>
                <a:ea typeface="Calibri" pitchFamily="34" charset="-122"/>
                <a:cs typeface="Calibri" pitchFamily="34" charset="-120"/>
              </a:rPr>
              <a:t>AZURE  (proposed)</a:t>
            </a:r>
            <a:endParaRPr lang="en-US" sz="1400" dirty="0"/>
          </a:p>
        </p:txBody>
      </p:sp>
      <p:sp>
        <p:nvSpPr>
          <p:cNvPr id="15" name="Text 13"/>
          <p:cNvSpPr/>
          <p:nvPr/>
        </p:nvSpPr>
        <p:spPr>
          <a:xfrm>
            <a:off x="6537960" y="2121408"/>
            <a:ext cx="4846320" cy="3749040"/>
          </a:xfrm>
          <a:prstGeom prst="rect">
            <a:avLst/>
          </a:prstGeom>
          <a:noFill/>
          <a:ln/>
        </p:spPr>
        <p:txBody>
          <a:bodyPr wrap="square" rtlCol="0" anchor="t"/>
          <a:lstStyle/>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VM Scale Set plus managed MySQL service</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Reachable from any browser, anywhere</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Autoscale adds instances on demand</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Automated daily backups, 7-day retention</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Zone-redundant standby takes over</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Pay-as-you-go operational expenditure</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Password held in Key Vault, fetched at boot</a:t>
            </a:r>
            <a:endParaRPr lang="en-US" sz="1150" dirty="0"/>
          </a:p>
          <a:p>
            <a:pPr marL="342900" indent="-342900">
              <a:lnSpc>
                <a:spcPts val="1610"/>
              </a:lnSpc>
              <a:spcAft>
                <a:spcPts val="700"/>
              </a:spcAft>
              <a:buSzPct val="100000"/>
              <a:buChar char="▪"/>
            </a:pPr>
            <a:r>
              <a:rPr lang="en-US" sz="1150" dirty="0">
                <a:solidFill>
                  <a:srgbClr val="344E41"/>
                </a:solidFill>
                <a:latin typeface="Calibri" pitchFamily="34" charset="0"/>
                <a:ea typeface="Calibri" pitchFamily="34" charset="-122"/>
                <a:cs typeface="Calibri" pitchFamily="34" charset="-120"/>
              </a:rPr>
              <a:t>Whole environment defined in Bicep</a:t>
            </a:r>
            <a:endParaRPr lang="en-US" sz="1150" dirty="0"/>
          </a:p>
        </p:txBody>
      </p:sp>
      <p:sp>
        <p:nvSpPr>
          <p:cNvPr id="16" name="Text 14"/>
          <p:cNvSpPr/>
          <p:nvPr/>
        </p:nvSpPr>
        <p:spPr>
          <a:xfrm>
            <a:off x="548640" y="6080760"/>
            <a:ext cx="11064240" cy="320040"/>
          </a:xfrm>
          <a:prstGeom prst="rect">
            <a:avLst/>
          </a:prstGeom>
          <a:noFill/>
          <a:ln/>
        </p:spPr>
        <p:txBody>
          <a:bodyPr wrap="square" rtlCol="0" anchor="ctr"/>
          <a:lstStyle/>
          <a:p>
            <a:pPr indent="0" marL="0">
              <a:buNone/>
            </a:pPr>
            <a:r>
              <a:rPr lang="en-US" sz="1150" i="1" dirty="0">
                <a:solidFill>
                  <a:srgbClr val="5E7262"/>
                </a:solidFill>
                <a:latin typeface="Calibri" pitchFamily="34" charset="0"/>
                <a:ea typeface="Calibri" pitchFamily="34" charset="-122"/>
                <a:cs typeface="Calibri" pitchFamily="34" charset="-120"/>
              </a:rPr>
              <a:t>The last two rows are the ones worth noticing: they are improvements the migration forces, not just relocations of the same thing.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5</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Cloud Service Models</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IaaS, PaaS and SaaS - and where each part of this project sits</a:t>
            </a:r>
            <a:endParaRPr lang="en-US" sz="1250" dirty="0"/>
          </a:p>
        </p:txBody>
      </p:sp>
      <p:sp>
        <p:nvSpPr>
          <p:cNvPr id="8" name="Shape 6"/>
          <p:cNvSpPr/>
          <p:nvPr/>
        </p:nvSpPr>
        <p:spPr>
          <a:xfrm>
            <a:off x="548640" y="1463040"/>
            <a:ext cx="3520440" cy="4343400"/>
          </a:xfrm>
          <a:prstGeom prst="roundRect">
            <a:avLst>
              <a:gd name="adj" fmla="val 1299"/>
            </a:avLst>
          </a:prstGeom>
          <a:solidFill>
            <a:srgbClr val="FFFFFF"/>
          </a:solidFill>
          <a:ln w="12700">
            <a:solidFill>
              <a:srgbClr val="C3CBB5"/>
            </a:solidFill>
            <a:prstDash val="solid"/>
          </a:ln>
        </p:spPr>
      </p:sp>
      <p:sp>
        <p:nvSpPr>
          <p:cNvPr id="9" name="Shape 7"/>
          <p:cNvSpPr/>
          <p:nvPr/>
        </p:nvSpPr>
        <p:spPr>
          <a:xfrm>
            <a:off x="548640" y="1463040"/>
            <a:ext cx="3520440" cy="749808"/>
          </a:xfrm>
          <a:prstGeom prst="roundRect">
            <a:avLst>
              <a:gd name="adj" fmla="val 6098"/>
            </a:avLst>
          </a:prstGeom>
          <a:solidFill>
            <a:srgbClr val="344E41"/>
          </a:solidFill>
          <a:ln/>
        </p:spPr>
      </p:sp>
      <p:sp>
        <p:nvSpPr>
          <p:cNvPr id="10" name="Text 8"/>
          <p:cNvSpPr/>
          <p:nvPr/>
        </p:nvSpPr>
        <p:spPr>
          <a:xfrm>
            <a:off x="777240" y="1517904"/>
            <a:ext cx="3017520" cy="347472"/>
          </a:xfrm>
          <a:prstGeom prst="rect">
            <a:avLst/>
          </a:prstGeom>
          <a:noFill/>
          <a:ln/>
        </p:spPr>
        <p:txBody>
          <a:bodyPr wrap="square" rtlCol="0" anchor="ctr"/>
          <a:lstStyle/>
          <a:p>
            <a:pPr indent="0" marL="0">
              <a:buNone/>
            </a:pPr>
            <a:r>
              <a:rPr lang="en-US" sz="1800" b="1" dirty="0">
                <a:solidFill>
                  <a:srgbClr val="DAD7CD"/>
                </a:solidFill>
                <a:latin typeface="Calibri" pitchFamily="34" charset="0"/>
                <a:ea typeface="Calibri" pitchFamily="34" charset="-122"/>
                <a:cs typeface="Calibri" pitchFamily="34" charset="-120"/>
              </a:rPr>
              <a:t>IaaS</a:t>
            </a:r>
            <a:endParaRPr lang="en-US" sz="1800" dirty="0"/>
          </a:p>
        </p:txBody>
      </p:sp>
      <p:sp>
        <p:nvSpPr>
          <p:cNvPr id="11" name="Text 9"/>
          <p:cNvSpPr/>
          <p:nvPr/>
        </p:nvSpPr>
        <p:spPr>
          <a:xfrm>
            <a:off x="777240" y="1856232"/>
            <a:ext cx="3017520" cy="274320"/>
          </a:xfrm>
          <a:prstGeom prst="rect">
            <a:avLst/>
          </a:prstGeom>
          <a:noFill/>
          <a:ln/>
        </p:spPr>
        <p:txBody>
          <a:bodyPr wrap="square" rtlCol="0" anchor="ctr"/>
          <a:lstStyle/>
          <a:p>
            <a:pPr indent="0" marL="0">
              <a:buNone/>
            </a:pPr>
            <a:r>
              <a:rPr lang="en-US" sz="1000" dirty="0">
                <a:solidFill>
                  <a:srgbClr val="DDE4D5"/>
                </a:solidFill>
                <a:latin typeface="Calibri" pitchFamily="34" charset="0"/>
                <a:ea typeface="Calibri" pitchFamily="34" charset="-122"/>
                <a:cs typeface="Calibri" pitchFamily="34" charset="-120"/>
              </a:rPr>
              <a:t>Infrastructure as a Service</a:t>
            </a:r>
            <a:endParaRPr lang="en-US" sz="1000" dirty="0"/>
          </a:p>
        </p:txBody>
      </p:sp>
      <p:sp>
        <p:nvSpPr>
          <p:cNvPr id="12" name="Text 10"/>
          <p:cNvSpPr/>
          <p:nvPr/>
        </p:nvSpPr>
        <p:spPr>
          <a:xfrm>
            <a:off x="777240" y="2377440"/>
            <a:ext cx="3108960" cy="123444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provider supplies virtual machines, storage and networking. We manage the operating system and everything above it.</a:t>
            </a:r>
            <a:endParaRPr lang="en-US" sz="1100" dirty="0"/>
          </a:p>
        </p:txBody>
      </p:sp>
      <p:sp>
        <p:nvSpPr>
          <p:cNvPr id="13" name="Shape 11"/>
          <p:cNvSpPr/>
          <p:nvPr/>
        </p:nvSpPr>
        <p:spPr>
          <a:xfrm>
            <a:off x="777240" y="3657600"/>
            <a:ext cx="822960" cy="22860"/>
          </a:xfrm>
          <a:prstGeom prst="rect">
            <a:avLst/>
          </a:prstGeom>
          <a:solidFill>
            <a:srgbClr val="A3B18A"/>
          </a:solidFill>
          <a:ln/>
        </p:spPr>
      </p:sp>
      <p:sp>
        <p:nvSpPr>
          <p:cNvPr id="14" name="Text 12"/>
          <p:cNvSpPr/>
          <p:nvPr/>
        </p:nvSpPr>
        <p:spPr>
          <a:xfrm>
            <a:off x="777240" y="3767328"/>
            <a:ext cx="3017520" cy="237744"/>
          </a:xfrm>
          <a:prstGeom prst="rect">
            <a:avLst/>
          </a:prstGeom>
          <a:noFill/>
          <a:ln/>
        </p:spPr>
        <p:txBody>
          <a:bodyPr wrap="square" rtlCol="0" anchor="ctr"/>
          <a:lstStyle/>
          <a:p>
            <a:pPr indent="0" marL="0">
              <a:buNone/>
            </a:pPr>
            <a:r>
              <a:rPr lang="en-US" sz="1000" b="1" dirty="0">
                <a:solidFill>
                  <a:srgbClr val="588157"/>
                </a:solidFill>
                <a:latin typeface="Calibri" pitchFamily="34" charset="0"/>
                <a:ea typeface="Calibri" pitchFamily="34" charset="-122"/>
                <a:cs typeface="Calibri" pitchFamily="34" charset="-120"/>
              </a:rPr>
              <a:t>In this project</a:t>
            </a:r>
            <a:endParaRPr lang="en-US" sz="1000" dirty="0"/>
          </a:p>
        </p:txBody>
      </p:sp>
      <p:sp>
        <p:nvSpPr>
          <p:cNvPr id="15" name="Text 13"/>
          <p:cNvSpPr/>
          <p:nvPr/>
        </p:nvSpPr>
        <p:spPr>
          <a:xfrm>
            <a:off x="777240" y="4023360"/>
            <a:ext cx="3108960" cy="164592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Azure Virtual Machine Scale Sets run the application. We choose Ubuntu, install Python and Streamlit, and maintain them.</a:t>
            </a:r>
            <a:endParaRPr lang="en-US" sz="1100" dirty="0"/>
          </a:p>
        </p:txBody>
      </p:sp>
      <p:sp>
        <p:nvSpPr>
          <p:cNvPr id="16" name="Shape 14"/>
          <p:cNvSpPr/>
          <p:nvPr/>
        </p:nvSpPr>
        <p:spPr>
          <a:xfrm>
            <a:off x="4325112" y="1463040"/>
            <a:ext cx="3520440" cy="4343400"/>
          </a:xfrm>
          <a:prstGeom prst="roundRect">
            <a:avLst>
              <a:gd name="adj" fmla="val 1299"/>
            </a:avLst>
          </a:prstGeom>
          <a:solidFill>
            <a:srgbClr val="FFFFFF"/>
          </a:solidFill>
          <a:ln w="12700">
            <a:solidFill>
              <a:srgbClr val="C3CBB5"/>
            </a:solidFill>
            <a:prstDash val="solid"/>
          </a:ln>
        </p:spPr>
      </p:sp>
      <p:sp>
        <p:nvSpPr>
          <p:cNvPr id="17" name="Shape 15"/>
          <p:cNvSpPr/>
          <p:nvPr/>
        </p:nvSpPr>
        <p:spPr>
          <a:xfrm>
            <a:off x="4325112" y="1463040"/>
            <a:ext cx="3520440" cy="749808"/>
          </a:xfrm>
          <a:prstGeom prst="roundRect">
            <a:avLst>
              <a:gd name="adj" fmla="val 6098"/>
            </a:avLst>
          </a:prstGeom>
          <a:solidFill>
            <a:srgbClr val="588157"/>
          </a:solidFill>
          <a:ln/>
        </p:spPr>
      </p:sp>
      <p:sp>
        <p:nvSpPr>
          <p:cNvPr id="18" name="Text 16"/>
          <p:cNvSpPr/>
          <p:nvPr/>
        </p:nvSpPr>
        <p:spPr>
          <a:xfrm>
            <a:off x="4553712" y="1517904"/>
            <a:ext cx="3017520" cy="347472"/>
          </a:xfrm>
          <a:prstGeom prst="rect">
            <a:avLst/>
          </a:prstGeom>
          <a:noFill/>
          <a:ln/>
        </p:spPr>
        <p:txBody>
          <a:bodyPr wrap="square" rtlCol="0" anchor="ctr"/>
          <a:lstStyle/>
          <a:p>
            <a:pPr indent="0" marL="0">
              <a:buNone/>
            </a:pPr>
            <a:r>
              <a:rPr lang="en-US" sz="1800" b="1" dirty="0">
                <a:solidFill>
                  <a:srgbClr val="DAD7CD"/>
                </a:solidFill>
                <a:latin typeface="Calibri" pitchFamily="34" charset="0"/>
                <a:ea typeface="Calibri" pitchFamily="34" charset="-122"/>
                <a:cs typeface="Calibri" pitchFamily="34" charset="-120"/>
              </a:rPr>
              <a:t>PaaS</a:t>
            </a:r>
            <a:endParaRPr lang="en-US" sz="1800" dirty="0"/>
          </a:p>
        </p:txBody>
      </p:sp>
      <p:sp>
        <p:nvSpPr>
          <p:cNvPr id="19" name="Text 17"/>
          <p:cNvSpPr/>
          <p:nvPr/>
        </p:nvSpPr>
        <p:spPr>
          <a:xfrm>
            <a:off x="4553712" y="1856232"/>
            <a:ext cx="3017520" cy="274320"/>
          </a:xfrm>
          <a:prstGeom prst="rect">
            <a:avLst/>
          </a:prstGeom>
          <a:noFill/>
          <a:ln/>
        </p:spPr>
        <p:txBody>
          <a:bodyPr wrap="square" rtlCol="0" anchor="ctr"/>
          <a:lstStyle/>
          <a:p>
            <a:pPr indent="0" marL="0">
              <a:buNone/>
            </a:pPr>
            <a:r>
              <a:rPr lang="en-US" sz="1000" dirty="0">
                <a:solidFill>
                  <a:srgbClr val="DDE4D5"/>
                </a:solidFill>
                <a:latin typeface="Calibri" pitchFamily="34" charset="0"/>
                <a:ea typeface="Calibri" pitchFamily="34" charset="-122"/>
                <a:cs typeface="Calibri" pitchFamily="34" charset="-120"/>
              </a:rPr>
              <a:t>Platform as a Service</a:t>
            </a:r>
            <a:endParaRPr lang="en-US" sz="1000" dirty="0"/>
          </a:p>
        </p:txBody>
      </p:sp>
      <p:sp>
        <p:nvSpPr>
          <p:cNvPr id="20" name="Text 18"/>
          <p:cNvSpPr/>
          <p:nvPr/>
        </p:nvSpPr>
        <p:spPr>
          <a:xfrm>
            <a:off x="4553712" y="2377440"/>
            <a:ext cx="3108960" cy="123444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provider also manages the runtime or database engine. We supply only schema, configuration and data.</a:t>
            </a:r>
            <a:endParaRPr lang="en-US" sz="1100" dirty="0"/>
          </a:p>
        </p:txBody>
      </p:sp>
      <p:sp>
        <p:nvSpPr>
          <p:cNvPr id="21" name="Shape 19"/>
          <p:cNvSpPr/>
          <p:nvPr/>
        </p:nvSpPr>
        <p:spPr>
          <a:xfrm>
            <a:off x="4553712" y="3657600"/>
            <a:ext cx="822960" cy="22860"/>
          </a:xfrm>
          <a:prstGeom prst="rect">
            <a:avLst/>
          </a:prstGeom>
          <a:solidFill>
            <a:srgbClr val="A3B18A"/>
          </a:solidFill>
          <a:ln/>
        </p:spPr>
      </p:sp>
      <p:sp>
        <p:nvSpPr>
          <p:cNvPr id="22" name="Text 20"/>
          <p:cNvSpPr/>
          <p:nvPr/>
        </p:nvSpPr>
        <p:spPr>
          <a:xfrm>
            <a:off x="4553712" y="3767328"/>
            <a:ext cx="3017520" cy="237744"/>
          </a:xfrm>
          <a:prstGeom prst="rect">
            <a:avLst/>
          </a:prstGeom>
          <a:noFill/>
          <a:ln/>
        </p:spPr>
        <p:txBody>
          <a:bodyPr wrap="square" rtlCol="0" anchor="ctr"/>
          <a:lstStyle/>
          <a:p>
            <a:pPr indent="0" marL="0">
              <a:buNone/>
            </a:pPr>
            <a:r>
              <a:rPr lang="en-US" sz="1000" b="1" dirty="0">
                <a:solidFill>
                  <a:srgbClr val="588157"/>
                </a:solidFill>
                <a:latin typeface="Calibri" pitchFamily="34" charset="0"/>
                <a:ea typeface="Calibri" pitchFamily="34" charset="-122"/>
                <a:cs typeface="Calibri" pitchFamily="34" charset="-120"/>
              </a:rPr>
              <a:t>In this project</a:t>
            </a:r>
            <a:endParaRPr lang="en-US" sz="1000" dirty="0"/>
          </a:p>
        </p:txBody>
      </p:sp>
      <p:sp>
        <p:nvSpPr>
          <p:cNvPr id="23" name="Text 21"/>
          <p:cNvSpPr/>
          <p:nvPr/>
        </p:nvSpPr>
        <p:spPr>
          <a:xfrm>
            <a:off x="4553712" y="4023360"/>
            <a:ext cx="3108960" cy="164592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Azure Database for MySQL Flexible Server. Azure patches the engine, takes backups and handles failover; we design the schema.</a:t>
            </a:r>
            <a:endParaRPr lang="en-US" sz="1100" dirty="0"/>
          </a:p>
        </p:txBody>
      </p:sp>
      <p:sp>
        <p:nvSpPr>
          <p:cNvPr id="24" name="Shape 22"/>
          <p:cNvSpPr/>
          <p:nvPr/>
        </p:nvSpPr>
        <p:spPr>
          <a:xfrm>
            <a:off x="8101584" y="1463040"/>
            <a:ext cx="3520440" cy="4343400"/>
          </a:xfrm>
          <a:prstGeom prst="roundRect">
            <a:avLst>
              <a:gd name="adj" fmla="val 1299"/>
            </a:avLst>
          </a:prstGeom>
          <a:solidFill>
            <a:srgbClr val="FFFFFF"/>
          </a:solidFill>
          <a:ln w="12700">
            <a:solidFill>
              <a:srgbClr val="C3CBB5"/>
            </a:solidFill>
            <a:prstDash val="solid"/>
          </a:ln>
        </p:spPr>
      </p:sp>
      <p:sp>
        <p:nvSpPr>
          <p:cNvPr id="25" name="Shape 23"/>
          <p:cNvSpPr/>
          <p:nvPr/>
        </p:nvSpPr>
        <p:spPr>
          <a:xfrm>
            <a:off x="8101584" y="1463040"/>
            <a:ext cx="3520440" cy="749808"/>
          </a:xfrm>
          <a:prstGeom prst="roundRect">
            <a:avLst>
              <a:gd name="adj" fmla="val 6098"/>
            </a:avLst>
          </a:prstGeom>
          <a:solidFill>
            <a:srgbClr val="3A6B8A"/>
          </a:solidFill>
          <a:ln/>
        </p:spPr>
      </p:sp>
      <p:sp>
        <p:nvSpPr>
          <p:cNvPr id="26" name="Text 24"/>
          <p:cNvSpPr/>
          <p:nvPr/>
        </p:nvSpPr>
        <p:spPr>
          <a:xfrm>
            <a:off x="8330184" y="1517904"/>
            <a:ext cx="3017520" cy="347472"/>
          </a:xfrm>
          <a:prstGeom prst="rect">
            <a:avLst/>
          </a:prstGeom>
          <a:noFill/>
          <a:ln/>
        </p:spPr>
        <p:txBody>
          <a:bodyPr wrap="square" rtlCol="0" anchor="ctr"/>
          <a:lstStyle/>
          <a:p>
            <a:pPr indent="0" marL="0">
              <a:buNone/>
            </a:pPr>
            <a:r>
              <a:rPr lang="en-US" sz="1800" b="1" dirty="0">
                <a:solidFill>
                  <a:srgbClr val="DAD7CD"/>
                </a:solidFill>
                <a:latin typeface="Calibri" pitchFamily="34" charset="0"/>
                <a:ea typeface="Calibri" pitchFamily="34" charset="-122"/>
                <a:cs typeface="Calibri" pitchFamily="34" charset="-120"/>
              </a:rPr>
              <a:t>SaaS</a:t>
            </a:r>
            <a:endParaRPr lang="en-US" sz="1800" dirty="0"/>
          </a:p>
        </p:txBody>
      </p:sp>
      <p:sp>
        <p:nvSpPr>
          <p:cNvPr id="27" name="Text 25"/>
          <p:cNvSpPr/>
          <p:nvPr/>
        </p:nvSpPr>
        <p:spPr>
          <a:xfrm>
            <a:off x="8330184" y="1856232"/>
            <a:ext cx="3017520" cy="274320"/>
          </a:xfrm>
          <a:prstGeom prst="rect">
            <a:avLst/>
          </a:prstGeom>
          <a:noFill/>
          <a:ln/>
        </p:spPr>
        <p:txBody>
          <a:bodyPr wrap="square" rtlCol="0" anchor="ctr"/>
          <a:lstStyle/>
          <a:p>
            <a:pPr indent="0" marL="0">
              <a:buNone/>
            </a:pPr>
            <a:r>
              <a:rPr lang="en-US" sz="1000" dirty="0">
                <a:solidFill>
                  <a:srgbClr val="DDE4D5"/>
                </a:solidFill>
                <a:latin typeface="Calibri" pitchFamily="34" charset="0"/>
                <a:ea typeface="Calibri" pitchFamily="34" charset="-122"/>
                <a:cs typeface="Calibri" pitchFamily="34" charset="-120"/>
              </a:rPr>
              <a:t>Software as a Service</a:t>
            </a:r>
            <a:endParaRPr lang="en-US" sz="1000" dirty="0"/>
          </a:p>
        </p:txBody>
      </p:sp>
      <p:sp>
        <p:nvSpPr>
          <p:cNvPr id="28" name="Text 26"/>
          <p:cNvSpPr/>
          <p:nvPr/>
        </p:nvSpPr>
        <p:spPr>
          <a:xfrm>
            <a:off x="8330184" y="2377440"/>
            <a:ext cx="3108960" cy="123444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provider runs a finished application. The customer opens a browser and uses it, owning nothing.</a:t>
            </a:r>
            <a:endParaRPr lang="en-US" sz="1100" dirty="0"/>
          </a:p>
        </p:txBody>
      </p:sp>
      <p:sp>
        <p:nvSpPr>
          <p:cNvPr id="29" name="Shape 27"/>
          <p:cNvSpPr/>
          <p:nvPr/>
        </p:nvSpPr>
        <p:spPr>
          <a:xfrm>
            <a:off x="8330184" y="3657600"/>
            <a:ext cx="822960" cy="22860"/>
          </a:xfrm>
          <a:prstGeom prst="rect">
            <a:avLst/>
          </a:prstGeom>
          <a:solidFill>
            <a:srgbClr val="A3B18A"/>
          </a:solidFill>
          <a:ln/>
        </p:spPr>
      </p:sp>
      <p:sp>
        <p:nvSpPr>
          <p:cNvPr id="30" name="Text 28"/>
          <p:cNvSpPr/>
          <p:nvPr/>
        </p:nvSpPr>
        <p:spPr>
          <a:xfrm>
            <a:off x="8330184" y="3767328"/>
            <a:ext cx="3017520" cy="237744"/>
          </a:xfrm>
          <a:prstGeom prst="rect">
            <a:avLst/>
          </a:prstGeom>
          <a:noFill/>
          <a:ln/>
        </p:spPr>
        <p:txBody>
          <a:bodyPr wrap="square" rtlCol="0" anchor="ctr"/>
          <a:lstStyle/>
          <a:p>
            <a:pPr indent="0" marL="0">
              <a:buNone/>
            </a:pPr>
            <a:r>
              <a:rPr lang="en-US" sz="1000" b="1" dirty="0">
                <a:solidFill>
                  <a:srgbClr val="588157"/>
                </a:solidFill>
                <a:latin typeface="Calibri" pitchFamily="34" charset="0"/>
                <a:ea typeface="Calibri" pitchFamily="34" charset="-122"/>
                <a:cs typeface="Calibri" pitchFamily="34" charset="-120"/>
              </a:rPr>
              <a:t>In this project</a:t>
            </a:r>
            <a:endParaRPr lang="en-US" sz="1000" dirty="0"/>
          </a:p>
        </p:txBody>
      </p:sp>
      <p:sp>
        <p:nvSpPr>
          <p:cNvPr id="31" name="Text 29"/>
          <p:cNvSpPr/>
          <p:nvPr/>
        </p:nvSpPr>
        <p:spPr>
          <a:xfrm>
            <a:off x="8330184" y="4023360"/>
            <a:ext cx="3108960" cy="1645920"/>
          </a:xfrm>
          <a:prstGeom prst="rect">
            <a:avLst/>
          </a:prstGeom>
          <a:noFill/>
          <a:ln/>
        </p:spPr>
        <p:txBody>
          <a:bodyPr wrap="square" rtlCol="0" anchor="ctr"/>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finished system is itself delivered this way to hotel staff, who visit a URL and own no infrastructure at all.</a:t>
            </a:r>
            <a:endParaRPr lang="en-US" sz="1100" dirty="0"/>
          </a:p>
        </p:txBody>
      </p:sp>
      <p:sp>
        <p:nvSpPr>
          <p:cNvPr id="32" name="Text 30"/>
          <p:cNvSpPr/>
          <p:nvPr/>
        </p:nvSpPr>
        <p:spPr>
          <a:xfrm>
            <a:off x="548640" y="5943600"/>
            <a:ext cx="11064240" cy="320040"/>
          </a:xfrm>
          <a:prstGeom prst="rect">
            <a:avLst/>
          </a:prstGeom>
          <a:noFill/>
          <a:ln/>
        </p:spPr>
        <p:txBody>
          <a:bodyPr wrap="square" rtlCol="0" anchor="ctr"/>
          <a:lstStyle/>
          <a:p>
            <a:pPr indent="0" marL="0">
              <a:buNone/>
            </a:pPr>
            <a:r>
              <a:rPr lang="en-US" sz="1150" i="1" dirty="0">
                <a:solidFill>
                  <a:srgbClr val="3A5A40"/>
                </a:solidFill>
                <a:latin typeface="Calibri" pitchFamily="34" charset="0"/>
                <a:ea typeface="Calibri" pitchFamily="34" charset="-122"/>
                <a:cs typeface="Calibri" pitchFamily="34" charset="-120"/>
              </a:rPr>
              <a:t>The project deliberately uses all three levels. The higher up the stack a component sits, the less we manage and the less we control.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Cloud Deployment Models</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Why a public cloud, and when it would be the wrong answer</a:t>
            </a:r>
            <a:endParaRPr lang="en-US" sz="1250" dirty="0"/>
          </a:p>
        </p:txBody>
      </p:sp>
      <p:sp>
        <p:nvSpPr>
          <p:cNvPr id="8" name="Shape 6"/>
          <p:cNvSpPr/>
          <p:nvPr/>
        </p:nvSpPr>
        <p:spPr>
          <a:xfrm>
            <a:off x="548640" y="1463040"/>
            <a:ext cx="7772400" cy="932688"/>
          </a:xfrm>
          <a:prstGeom prst="roundRect">
            <a:avLst>
              <a:gd name="adj" fmla="val 4902"/>
            </a:avLst>
          </a:prstGeom>
          <a:solidFill>
            <a:srgbClr val="A3B18A"/>
          </a:solidFill>
          <a:ln w="12700">
            <a:solidFill>
              <a:srgbClr val="C3CBB5"/>
            </a:solidFill>
            <a:prstDash val="solid"/>
          </a:ln>
        </p:spPr>
      </p:sp>
      <p:sp>
        <p:nvSpPr>
          <p:cNvPr id="9" name="Text 7"/>
          <p:cNvSpPr/>
          <p:nvPr/>
        </p:nvSpPr>
        <p:spPr>
          <a:xfrm>
            <a:off x="777240" y="1554480"/>
            <a:ext cx="274320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Public cloud</a:t>
            </a:r>
            <a:endParaRPr lang="en-US" sz="1350" dirty="0"/>
          </a:p>
        </p:txBody>
      </p:sp>
      <p:sp>
        <p:nvSpPr>
          <p:cNvPr id="10" name="Text 8"/>
          <p:cNvSpPr/>
          <p:nvPr/>
        </p:nvSpPr>
        <p:spPr>
          <a:xfrm>
            <a:off x="777240" y="1847088"/>
            <a:ext cx="7223760" cy="475488"/>
          </a:xfrm>
          <a:prstGeom prst="rect">
            <a:avLst/>
          </a:prstGeom>
          <a:noFill/>
          <a:ln/>
        </p:spPr>
        <p:txBody>
          <a:bodyPr wrap="square" rtlCol="0" anchor="ctr"/>
          <a:lstStyle/>
          <a:p>
            <a:pPr indent="0" marL="0">
              <a:lnSpc>
                <a:spcPts val="1400"/>
              </a:lnSpc>
              <a:buNone/>
            </a:pPr>
            <a:r>
              <a:rPr lang="en-US" sz="1100" dirty="0">
                <a:solidFill>
                  <a:srgbClr val="344E41"/>
                </a:solidFill>
                <a:latin typeface="Calibri" pitchFamily="34" charset="0"/>
                <a:ea typeface="Calibri" pitchFamily="34" charset="-122"/>
                <a:cs typeface="Calibri" pitchFamily="34" charset="-120"/>
              </a:rPr>
              <a:t>Infrastructure owned by a provider and shared among many tenants. Lowest cost, nothing to buy, effectively unlimited capacity.</a:t>
            </a:r>
            <a:endParaRPr lang="en-US" sz="1100" dirty="0"/>
          </a:p>
        </p:txBody>
      </p:sp>
      <p:sp>
        <p:nvSpPr>
          <p:cNvPr id="11" name="Shape 9"/>
          <p:cNvSpPr/>
          <p:nvPr/>
        </p:nvSpPr>
        <p:spPr>
          <a:xfrm>
            <a:off x="7178040" y="1554480"/>
            <a:ext cx="960120" cy="274320"/>
          </a:xfrm>
          <a:prstGeom prst="roundRect">
            <a:avLst>
              <a:gd name="adj" fmla="val 23333"/>
            </a:avLst>
          </a:prstGeom>
          <a:solidFill>
            <a:srgbClr val="3A5A40"/>
          </a:solidFill>
          <a:ln/>
        </p:spPr>
      </p:sp>
      <p:sp>
        <p:nvSpPr>
          <p:cNvPr id="12" name="Text 10"/>
          <p:cNvSpPr/>
          <p:nvPr/>
        </p:nvSpPr>
        <p:spPr>
          <a:xfrm>
            <a:off x="7178040" y="1581912"/>
            <a:ext cx="960120" cy="228600"/>
          </a:xfrm>
          <a:prstGeom prst="rect">
            <a:avLst/>
          </a:prstGeom>
          <a:noFill/>
          <a:ln/>
        </p:spPr>
        <p:txBody>
          <a:bodyPr wrap="square" rtlCol="0" anchor="ctr"/>
          <a:lstStyle/>
          <a:p>
            <a:pPr algn="ctr" indent="0" marL="0">
              <a:buNone/>
            </a:pPr>
            <a:r>
              <a:rPr lang="en-US" sz="900" b="1" dirty="0">
                <a:solidFill>
                  <a:srgbClr val="DAD7CD"/>
                </a:solidFill>
                <a:latin typeface="Calibri" pitchFamily="34" charset="0"/>
                <a:ea typeface="Calibri" pitchFamily="34" charset="-122"/>
                <a:cs typeface="Calibri" pitchFamily="34" charset="-120"/>
              </a:rPr>
              <a:t>CHOSEN</a:t>
            </a:r>
            <a:endParaRPr lang="en-US" sz="900" dirty="0"/>
          </a:p>
        </p:txBody>
      </p:sp>
      <p:sp>
        <p:nvSpPr>
          <p:cNvPr id="13" name="Shape 11"/>
          <p:cNvSpPr/>
          <p:nvPr/>
        </p:nvSpPr>
        <p:spPr>
          <a:xfrm>
            <a:off x="548640" y="2542032"/>
            <a:ext cx="7772400" cy="932688"/>
          </a:xfrm>
          <a:prstGeom prst="roundRect">
            <a:avLst>
              <a:gd name="adj" fmla="val 4902"/>
            </a:avLst>
          </a:prstGeom>
          <a:solidFill>
            <a:srgbClr val="FFFFFF"/>
          </a:solidFill>
          <a:ln w="12700">
            <a:solidFill>
              <a:srgbClr val="C3CBB5"/>
            </a:solidFill>
            <a:prstDash val="solid"/>
          </a:ln>
        </p:spPr>
      </p:sp>
      <p:sp>
        <p:nvSpPr>
          <p:cNvPr id="14" name="Text 12"/>
          <p:cNvSpPr/>
          <p:nvPr/>
        </p:nvSpPr>
        <p:spPr>
          <a:xfrm>
            <a:off x="777240" y="2633472"/>
            <a:ext cx="274320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Private cloud</a:t>
            </a:r>
            <a:endParaRPr lang="en-US" sz="1350" dirty="0"/>
          </a:p>
        </p:txBody>
      </p:sp>
      <p:sp>
        <p:nvSpPr>
          <p:cNvPr id="15" name="Text 13"/>
          <p:cNvSpPr/>
          <p:nvPr/>
        </p:nvSpPr>
        <p:spPr>
          <a:xfrm>
            <a:off x="777240" y="2926080"/>
            <a:ext cx="7223760" cy="475488"/>
          </a:xfrm>
          <a:prstGeom prst="rect">
            <a:avLst/>
          </a:prstGeom>
          <a:noFill/>
          <a:ln/>
        </p:spPr>
        <p:txBody>
          <a:bodyPr wrap="square" rtlCol="0" anchor="ctr"/>
          <a:lstStyle/>
          <a:p>
            <a:pPr indent="0" marL="0">
              <a:lnSpc>
                <a:spcPts val="1400"/>
              </a:lnSpc>
              <a:buNone/>
            </a:pPr>
            <a:r>
              <a:rPr lang="en-US" sz="1100" dirty="0">
                <a:solidFill>
                  <a:srgbClr val="344E41"/>
                </a:solidFill>
                <a:latin typeface="Calibri" pitchFamily="34" charset="0"/>
                <a:ea typeface="Calibri" pitchFamily="34" charset="-122"/>
                <a:cs typeface="Calibri" pitchFamily="34" charset="-120"/>
              </a:rPr>
              <a:t>Infrastructure dedicated to one organisation. More control and easier regulatory compliance, but the capital cost returns.</a:t>
            </a:r>
            <a:endParaRPr lang="en-US" sz="1100" dirty="0"/>
          </a:p>
        </p:txBody>
      </p:sp>
      <p:sp>
        <p:nvSpPr>
          <p:cNvPr id="16" name="Shape 14"/>
          <p:cNvSpPr/>
          <p:nvPr/>
        </p:nvSpPr>
        <p:spPr>
          <a:xfrm>
            <a:off x="548640" y="3621024"/>
            <a:ext cx="7772400" cy="932688"/>
          </a:xfrm>
          <a:prstGeom prst="roundRect">
            <a:avLst>
              <a:gd name="adj" fmla="val 4902"/>
            </a:avLst>
          </a:prstGeom>
          <a:solidFill>
            <a:srgbClr val="FFFFFF"/>
          </a:solidFill>
          <a:ln w="12700">
            <a:solidFill>
              <a:srgbClr val="C3CBB5"/>
            </a:solidFill>
            <a:prstDash val="solid"/>
          </a:ln>
        </p:spPr>
      </p:sp>
      <p:sp>
        <p:nvSpPr>
          <p:cNvPr id="17" name="Text 15"/>
          <p:cNvSpPr/>
          <p:nvPr/>
        </p:nvSpPr>
        <p:spPr>
          <a:xfrm>
            <a:off x="777240" y="3712464"/>
            <a:ext cx="274320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Hybrid cloud</a:t>
            </a:r>
            <a:endParaRPr lang="en-US" sz="1350" dirty="0"/>
          </a:p>
        </p:txBody>
      </p:sp>
      <p:sp>
        <p:nvSpPr>
          <p:cNvPr id="18" name="Text 16"/>
          <p:cNvSpPr/>
          <p:nvPr/>
        </p:nvSpPr>
        <p:spPr>
          <a:xfrm>
            <a:off x="777240" y="4005072"/>
            <a:ext cx="7223760" cy="475488"/>
          </a:xfrm>
          <a:prstGeom prst="rect">
            <a:avLst/>
          </a:prstGeom>
          <a:noFill/>
          <a:ln/>
        </p:spPr>
        <p:txBody>
          <a:bodyPr wrap="square" rtlCol="0" anchor="ctr"/>
          <a:lstStyle/>
          <a:p>
            <a:pPr indent="0" marL="0">
              <a:lnSpc>
                <a:spcPts val="1400"/>
              </a:lnSpc>
              <a:buNone/>
            </a:pPr>
            <a:r>
              <a:rPr lang="en-US" sz="1100" dirty="0">
                <a:solidFill>
                  <a:srgbClr val="344E41"/>
                </a:solidFill>
                <a:latin typeface="Calibri" pitchFamily="34" charset="0"/>
                <a:ea typeface="Calibri" pitchFamily="34" charset="-122"/>
                <a:cs typeface="Calibri" pitchFamily="34" charset="-120"/>
              </a:rPr>
              <a:t>A combination: sensitive data kept private, general workloads in the public cloud. Flexible, but harder to operate.</a:t>
            </a:r>
            <a:endParaRPr lang="en-US" sz="1100" dirty="0"/>
          </a:p>
        </p:txBody>
      </p:sp>
      <p:sp>
        <p:nvSpPr>
          <p:cNvPr id="19" name="Shape 17"/>
          <p:cNvSpPr/>
          <p:nvPr/>
        </p:nvSpPr>
        <p:spPr>
          <a:xfrm>
            <a:off x="548640" y="4700016"/>
            <a:ext cx="7772400" cy="932688"/>
          </a:xfrm>
          <a:prstGeom prst="roundRect">
            <a:avLst>
              <a:gd name="adj" fmla="val 4902"/>
            </a:avLst>
          </a:prstGeom>
          <a:solidFill>
            <a:srgbClr val="FFFFFF"/>
          </a:solidFill>
          <a:ln w="12700">
            <a:solidFill>
              <a:srgbClr val="C3CBB5"/>
            </a:solidFill>
            <a:prstDash val="solid"/>
          </a:ln>
        </p:spPr>
      </p:sp>
      <p:sp>
        <p:nvSpPr>
          <p:cNvPr id="20" name="Text 18"/>
          <p:cNvSpPr/>
          <p:nvPr/>
        </p:nvSpPr>
        <p:spPr>
          <a:xfrm>
            <a:off x="777240" y="4791456"/>
            <a:ext cx="274320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Community cloud</a:t>
            </a:r>
            <a:endParaRPr lang="en-US" sz="1350" dirty="0"/>
          </a:p>
        </p:txBody>
      </p:sp>
      <p:sp>
        <p:nvSpPr>
          <p:cNvPr id="21" name="Text 19"/>
          <p:cNvSpPr/>
          <p:nvPr/>
        </p:nvSpPr>
        <p:spPr>
          <a:xfrm>
            <a:off x="777240" y="5084064"/>
            <a:ext cx="7223760" cy="475488"/>
          </a:xfrm>
          <a:prstGeom prst="rect">
            <a:avLst/>
          </a:prstGeom>
          <a:noFill/>
          <a:ln/>
        </p:spPr>
        <p:txBody>
          <a:bodyPr wrap="square" rtlCol="0" anchor="ctr"/>
          <a:lstStyle/>
          <a:p>
            <a:pPr indent="0" marL="0">
              <a:lnSpc>
                <a:spcPts val="1400"/>
              </a:lnSpc>
              <a:buNone/>
            </a:pPr>
            <a:r>
              <a:rPr lang="en-US" sz="1100" dirty="0">
                <a:solidFill>
                  <a:srgbClr val="344E41"/>
                </a:solidFill>
                <a:latin typeface="Calibri" pitchFamily="34" charset="0"/>
                <a:ea typeface="Calibri" pitchFamily="34" charset="-122"/>
                <a:cs typeface="Calibri" pitchFamily="34" charset="-120"/>
              </a:rPr>
              <a:t>Shared by organisations with common requirements, such as a hotel group or a university consortium.</a:t>
            </a:r>
            <a:endParaRPr lang="en-US" sz="1100" dirty="0"/>
          </a:p>
        </p:txBody>
      </p:sp>
      <p:sp>
        <p:nvSpPr>
          <p:cNvPr id="22" name="Shape 20"/>
          <p:cNvSpPr/>
          <p:nvPr/>
        </p:nvSpPr>
        <p:spPr>
          <a:xfrm>
            <a:off x="8595360" y="1463040"/>
            <a:ext cx="3017520" cy="4315968"/>
          </a:xfrm>
          <a:prstGeom prst="roundRect">
            <a:avLst>
              <a:gd name="adj" fmla="val 1515"/>
            </a:avLst>
          </a:prstGeom>
          <a:solidFill>
            <a:srgbClr val="FFFFFF"/>
          </a:solidFill>
          <a:ln w="12700">
            <a:solidFill>
              <a:srgbClr val="C3CBB5"/>
            </a:solidFill>
            <a:prstDash val="solid"/>
          </a:ln>
        </p:spPr>
      </p:sp>
      <p:sp>
        <p:nvSpPr>
          <p:cNvPr id="23" name="Text 21"/>
          <p:cNvSpPr/>
          <p:nvPr/>
        </p:nvSpPr>
        <p:spPr>
          <a:xfrm>
            <a:off x="8823960" y="1600200"/>
            <a:ext cx="2651760" cy="274320"/>
          </a:xfrm>
          <a:prstGeom prst="rect">
            <a:avLst/>
          </a:prstGeom>
          <a:noFill/>
          <a:ln/>
        </p:spPr>
        <p:txBody>
          <a:bodyPr wrap="square" rtlCol="0" anchor="ctr"/>
          <a:lstStyle/>
          <a:p>
            <a:pPr indent="0" marL="0">
              <a:buNone/>
            </a:pPr>
            <a:r>
              <a:rPr lang="en-US" sz="1300" b="1" dirty="0">
                <a:solidFill>
                  <a:srgbClr val="344E41"/>
                </a:solidFill>
                <a:latin typeface="Calibri" pitchFamily="34" charset="0"/>
                <a:ea typeface="Calibri" pitchFamily="34" charset="-122"/>
                <a:cs typeface="Calibri" pitchFamily="34" charset="-120"/>
              </a:rPr>
              <a:t>Why public cloud</a:t>
            </a:r>
            <a:endParaRPr lang="en-US" sz="1300" dirty="0"/>
          </a:p>
        </p:txBody>
      </p:sp>
      <p:sp>
        <p:nvSpPr>
          <p:cNvPr id="24" name="Text 22"/>
          <p:cNvSpPr/>
          <p:nvPr/>
        </p:nvSpPr>
        <p:spPr>
          <a:xfrm>
            <a:off x="8823960" y="1965960"/>
            <a:ext cx="2606040" cy="3657600"/>
          </a:xfrm>
          <a:prstGeom prst="rect">
            <a:avLst/>
          </a:prstGeom>
          <a:noFill/>
          <a:ln/>
        </p:spPr>
        <p:txBody>
          <a:bodyPr wrap="square" rtlCol="0" anchor="t"/>
          <a:lstStyle/>
          <a:p>
            <a:pPr marL="342900" indent="-342900">
              <a:lnSpc>
                <a:spcPts val="1470"/>
              </a:lnSpc>
              <a:spcAft>
                <a:spcPts val="700"/>
              </a:spcAft>
              <a:buSzPct val="100000"/>
              <a:buChar char="▪"/>
            </a:pPr>
            <a:r>
              <a:rPr lang="en-US" sz="1050" dirty="0">
                <a:solidFill>
                  <a:srgbClr val="344E41"/>
                </a:solidFill>
                <a:latin typeface="Calibri" pitchFamily="34" charset="0"/>
                <a:ea typeface="Calibri" pitchFamily="34" charset="-122"/>
                <a:cs typeface="Calibri" pitchFamily="34" charset="-120"/>
              </a:rPr>
              <a:t>No capital expenditure; runs on an Azure for Students account</a:t>
            </a:r>
            <a:endParaRPr lang="en-US" sz="1050" dirty="0"/>
          </a:p>
          <a:p>
            <a:pPr marL="342900" indent="-342900">
              <a:lnSpc>
                <a:spcPts val="1470"/>
              </a:lnSpc>
              <a:spcAft>
                <a:spcPts val="700"/>
              </a:spcAft>
              <a:buSzPct val="100000"/>
              <a:buChar char="▪"/>
            </a:pPr>
            <a:r>
              <a:rPr lang="en-US" sz="1050" dirty="0">
                <a:solidFill>
                  <a:srgbClr val="344E41"/>
                </a:solidFill>
                <a:latin typeface="Calibri" pitchFamily="34" charset="0"/>
                <a:ea typeface="Calibri" pitchFamily="34" charset="-122"/>
                <a:cs typeface="Calibri" pitchFamily="34" charset="-120"/>
              </a:rPr>
              <a:t>Availability Zones give datacentre redundancy with no extra work</a:t>
            </a:r>
            <a:endParaRPr lang="en-US" sz="1050" dirty="0"/>
          </a:p>
          <a:p>
            <a:pPr marL="342900" indent="-342900">
              <a:lnSpc>
                <a:spcPts val="1470"/>
              </a:lnSpc>
              <a:spcAft>
                <a:spcPts val="700"/>
              </a:spcAft>
              <a:buSzPct val="100000"/>
              <a:buChar char="▪"/>
            </a:pPr>
            <a:r>
              <a:rPr lang="en-US" sz="1050" dirty="0">
                <a:solidFill>
                  <a:srgbClr val="344E41"/>
                </a:solidFill>
                <a:latin typeface="Calibri" pitchFamily="34" charset="0"/>
                <a:ea typeface="Calibri" pitchFamily="34" charset="-122"/>
                <a:cs typeface="Calibri" pitchFamily="34" charset="-120"/>
              </a:rPr>
              <a:t>Resources can be created and destroyed as the project needs them</a:t>
            </a:r>
            <a:endParaRPr lang="en-US" sz="1050" dirty="0"/>
          </a:p>
          <a:p>
            <a:pPr marL="342900" indent="-342900">
              <a:lnSpc>
                <a:spcPts val="1470"/>
              </a:lnSpc>
              <a:spcAft>
                <a:spcPts val="700"/>
              </a:spcAft>
              <a:buSzPct val="100000"/>
              <a:buChar char="▪"/>
            </a:pPr>
            <a:r>
              <a:rPr lang="en-US" sz="1050" dirty="0">
                <a:solidFill>
                  <a:srgbClr val="344E41"/>
                </a:solidFill>
                <a:latin typeface="Calibri" pitchFamily="34" charset="0"/>
                <a:ea typeface="Calibri" pitchFamily="34" charset="-122"/>
                <a:cs typeface="Calibri" pitchFamily="34" charset="-120"/>
              </a:rPr>
              <a:t>A single hotel has no regulation forcing data to stay on its own premises</a:t>
            </a:r>
            <a:endParaRPr lang="en-US" sz="1050" dirty="0"/>
          </a:p>
          <a:p>
            <a:pPr marL="342900" indent="-342900">
              <a:lnSpc>
                <a:spcPts val="1470"/>
              </a:lnSpc>
              <a:spcAft>
                <a:spcPts val="700"/>
              </a:spcAft>
              <a:buSzPct val="100000"/>
              <a:buChar char="▪"/>
            </a:pPr>
            <a:r>
              <a:rPr lang="en-US" sz="1050" dirty="0">
                <a:solidFill>
                  <a:srgbClr val="344E41"/>
                </a:solidFill>
                <a:latin typeface="Calibri" pitchFamily="34" charset="0"/>
                <a:ea typeface="Calibri" pitchFamily="34" charset="-122"/>
                <a:cs typeface="Calibri" pitchFamily="34" charset="-120"/>
              </a:rPr>
              <a:t>The skills transfer directly to industry</a:t>
            </a:r>
            <a:endParaRPr lang="en-US" sz="1050" dirty="0"/>
          </a:p>
        </p:txBody>
      </p:sp>
      <p:sp>
        <p:nvSpPr>
          <p:cNvPr id="25" name="Text 23"/>
          <p:cNvSpPr/>
          <p:nvPr/>
        </p:nvSpPr>
        <p:spPr>
          <a:xfrm>
            <a:off x="548640" y="5943600"/>
            <a:ext cx="11064240" cy="347472"/>
          </a:xfrm>
          <a:prstGeom prst="rect">
            <a:avLst/>
          </a:prstGeom>
          <a:noFill/>
          <a:ln/>
        </p:spPr>
        <p:txBody>
          <a:bodyPr wrap="square" rtlCol="0" anchor="ctr"/>
          <a:lstStyle/>
          <a:p>
            <a:pPr indent="0" marL="0">
              <a:buNone/>
            </a:pPr>
            <a:r>
              <a:rPr lang="en-US" sz="1150" i="1" dirty="0">
                <a:solidFill>
                  <a:srgbClr val="5E7262"/>
                </a:solidFill>
                <a:latin typeface="Calibri" pitchFamily="34" charset="0"/>
                <a:ea typeface="Calibri" pitchFamily="34" charset="-122"/>
                <a:cs typeface="Calibri" pitchFamily="34" charset="-120"/>
              </a:rPr>
              <a:t>When it would be wrong: a hotel chain legally required to keep guest identity documents inside its own country, or on its own hardware, would need a private or hybrid arrangement instead.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7</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Proposed Cloud Architecture</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Three tiers inside one virtual network, spread across two Availability Zones</a:t>
            </a:r>
            <a:endParaRPr lang="en-US" sz="1250" dirty="0"/>
          </a:p>
        </p:txBody>
      </p:sp>
      <p:pic>
        <p:nvPicPr>
          <p:cNvPr id="8" name="Image 0" descr="/home/claude/azure/azure_arch_slide.png">    </p:cNvPr>
          <p:cNvPicPr>
            <a:picLocks noChangeAspect="1"/>
          </p:cNvPicPr>
          <p:nvPr/>
        </p:nvPicPr>
        <p:blipFill>
          <a:blip r:embed="rId1"/>
          <a:stretch>
            <a:fillRect/>
          </a:stretch>
        </p:blipFill>
        <p:spPr>
          <a:xfrm>
            <a:off x="457200" y="1325880"/>
            <a:ext cx="3611880" cy="4846320"/>
          </a:xfrm>
          <a:prstGeom prst="rect">
            <a:avLst/>
          </a:prstGeom>
        </p:spPr>
      </p:pic>
      <p:sp>
        <p:nvSpPr>
          <p:cNvPr id="9" name="Text 6"/>
          <p:cNvSpPr/>
          <p:nvPr/>
        </p:nvSpPr>
        <p:spPr>
          <a:xfrm>
            <a:off x="4343400" y="1298448"/>
            <a:ext cx="7269480" cy="237744"/>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Entry point</a:t>
            </a:r>
            <a:endParaRPr lang="en-US" sz="1250" dirty="0"/>
          </a:p>
        </p:txBody>
      </p:sp>
      <p:sp>
        <p:nvSpPr>
          <p:cNvPr id="10" name="Text 7"/>
          <p:cNvSpPr/>
          <p:nvPr/>
        </p:nvSpPr>
        <p:spPr>
          <a:xfrm>
            <a:off x="4343400" y="1545336"/>
            <a:ext cx="7269480" cy="676656"/>
          </a:xfrm>
          <a:prstGeom prst="rect">
            <a:avLst/>
          </a:prstGeom>
          <a:noFill/>
          <a:ln/>
        </p:spPr>
        <p:txBody>
          <a:bodyPr wrap="square" rtlCol="0" anchor="t"/>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Azure DNS resolves the hotel's domain to an Application Gateway, which load-balances across healthy instances and stops routing to any that fail a probe.</a:t>
            </a:r>
            <a:endParaRPr lang="en-US" sz="1100" dirty="0"/>
          </a:p>
        </p:txBody>
      </p:sp>
      <p:sp>
        <p:nvSpPr>
          <p:cNvPr id="11" name="Text 8"/>
          <p:cNvSpPr/>
          <p:nvPr/>
        </p:nvSpPr>
        <p:spPr>
          <a:xfrm>
            <a:off x="4343400" y="2267712"/>
            <a:ext cx="7269480" cy="237744"/>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Application tier</a:t>
            </a:r>
            <a:endParaRPr lang="en-US" sz="1250" dirty="0"/>
          </a:p>
        </p:txBody>
      </p:sp>
      <p:sp>
        <p:nvSpPr>
          <p:cNvPr id="12" name="Text 9"/>
          <p:cNvSpPr/>
          <p:nvPr/>
        </p:nvSpPr>
        <p:spPr>
          <a:xfrm>
            <a:off x="4343400" y="2514600"/>
            <a:ext cx="7269480" cy="676656"/>
          </a:xfrm>
          <a:prstGeom prst="rect">
            <a:avLst/>
          </a:prstGeom>
          <a:noFill/>
          <a:ln/>
        </p:spPr>
        <p:txBody>
          <a:bodyPr wrap="square" rtlCol="0" anchor="t"/>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A Virtual Machine Scale Set in a private subnet runs the Streamlit application, spread across Zone 1 and Zone 2, autoscaling between two and six instances.</a:t>
            </a:r>
            <a:endParaRPr lang="en-US" sz="1100" dirty="0"/>
          </a:p>
        </p:txBody>
      </p:sp>
      <p:sp>
        <p:nvSpPr>
          <p:cNvPr id="13" name="Text 10"/>
          <p:cNvSpPr/>
          <p:nvPr/>
        </p:nvSpPr>
        <p:spPr>
          <a:xfrm>
            <a:off x="4343400" y="3236976"/>
            <a:ext cx="7269480" cy="237744"/>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Data tier</a:t>
            </a:r>
            <a:endParaRPr lang="en-US" sz="1250" dirty="0"/>
          </a:p>
        </p:txBody>
      </p:sp>
      <p:sp>
        <p:nvSpPr>
          <p:cNvPr id="14" name="Text 11"/>
          <p:cNvSpPr/>
          <p:nvPr/>
        </p:nvSpPr>
        <p:spPr>
          <a:xfrm>
            <a:off x="4343400" y="3483864"/>
            <a:ext cx="7269480" cy="676656"/>
          </a:xfrm>
          <a:prstGeom prst="rect">
            <a:avLst/>
          </a:prstGeom>
          <a:noFill/>
          <a:ln/>
        </p:spPr>
        <p:txBody>
          <a:bodyPr wrap="square" rtlCol="0" anchor="t"/>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Azure Database for MySQL Flexible Server holds the six tables, VNet-integrated so it has no public endpoint at all. A zone-redundant standby can take over automatically.</a:t>
            </a:r>
            <a:endParaRPr lang="en-US" sz="1100" dirty="0"/>
          </a:p>
        </p:txBody>
      </p:sp>
      <p:sp>
        <p:nvSpPr>
          <p:cNvPr id="15" name="Text 12"/>
          <p:cNvSpPr/>
          <p:nvPr/>
        </p:nvSpPr>
        <p:spPr>
          <a:xfrm>
            <a:off x="4343400" y="4206240"/>
            <a:ext cx="7269480" cy="237744"/>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Secrets</a:t>
            </a:r>
            <a:endParaRPr lang="en-US" sz="1250" dirty="0"/>
          </a:p>
        </p:txBody>
      </p:sp>
      <p:sp>
        <p:nvSpPr>
          <p:cNvPr id="16" name="Text 13"/>
          <p:cNvSpPr/>
          <p:nvPr/>
        </p:nvSpPr>
        <p:spPr>
          <a:xfrm>
            <a:off x="4343400" y="4453128"/>
            <a:ext cx="7269480" cy="676656"/>
          </a:xfrm>
          <a:prstGeom prst="rect">
            <a:avLst/>
          </a:prstGeom>
          <a:noFill/>
          <a:ln/>
        </p:spPr>
        <p:txBody>
          <a:bodyPr wrap="square" rtlCol="0" anchor="t"/>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The database password lives in Azure Key Vault. Each VM reads it at boot using its managed identity, so no credential exists in the repository or the VM image.</a:t>
            </a:r>
            <a:endParaRPr lang="en-US" sz="1100" dirty="0"/>
          </a:p>
        </p:txBody>
      </p:sp>
      <p:sp>
        <p:nvSpPr>
          <p:cNvPr id="17" name="Text 14"/>
          <p:cNvSpPr/>
          <p:nvPr/>
        </p:nvSpPr>
        <p:spPr>
          <a:xfrm>
            <a:off x="4343400" y="5175504"/>
            <a:ext cx="7269480" cy="237744"/>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Operations</a:t>
            </a:r>
            <a:endParaRPr lang="en-US" sz="1250" dirty="0"/>
          </a:p>
        </p:txBody>
      </p:sp>
      <p:sp>
        <p:nvSpPr>
          <p:cNvPr id="18" name="Text 15"/>
          <p:cNvSpPr/>
          <p:nvPr/>
        </p:nvSpPr>
        <p:spPr>
          <a:xfrm>
            <a:off x="4343400" y="5422392"/>
            <a:ext cx="7269480" cy="676656"/>
          </a:xfrm>
          <a:prstGeom prst="rect">
            <a:avLst/>
          </a:prstGeom>
          <a:noFill/>
          <a:ln/>
        </p:spPr>
        <p:txBody>
          <a:bodyPr wrap="square" rtlCol="0" anchor="t"/>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Azure Monitor collects metrics, logs and alert rules; Blob Storage holds automated database backups.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8</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Azure Services Used</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Each service, and the cloud concept it demonstrates</a:t>
            </a:r>
            <a:endParaRPr lang="en-US" sz="1250" dirty="0"/>
          </a:p>
        </p:txBody>
      </p:sp>
      <p:sp>
        <p:nvSpPr>
          <p:cNvPr id="8" name="Shape 6"/>
          <p:cNvSpPr/>
          <p:nvPr/>
        </p:nvSpPr>
        <p:spPr>
          <a:xfrm>
            <a:off x="548640" y="1463040"/>
            <a:ext cx="5349240" cy="640080"/>
          </a:xfrm>
          <a:prstGeom prst="roundRect">
            <a:avLst>
              <a:gd name="adj" fmla="val 7143"/>
            </a:avLst>
          </a:prstGeom>
          <a:solidFill>
            <a:srgbClr val="FFFFFF"/>
          </a:solidFill>
          <a:ln w="9525">
            <a:solidFill>
              <a:srgbClr val="C3CBB5"/>
            </a:solidFill>
            <a:prstDash val="solid"/>
          </a:ln>
        </p:spPr>
      </p:sp>
      <p:sp>
        <p:nvSpPr>
          <p:cNvPr id="9" name="Text 7"/>
          <p:cNvSpPr/>
          <p:nvPr/>
        </p:nvSpPr>
        <p:spPr>
          <a:xfrm>
            <a:off x="713232" y="1517904"/>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Virtual Machine Scale Sets</a:t>
            </a:r>
            <a:endParaRPr lang="en-US" sz="1100" dirty="0"/>
          </a:p>
        </p:txBody>
      </p:sp>
      <p:sp>
        <p:nvSpPr>
          <p:cNvPr id="10" name="Text 8"/>
          <p:cNvSpPr/>
          <p:nvPr/>
        </p:nvSpPr>
        <p:spPr>
          <a:xfrm>
            <a:off x="713232" y="1792224"/>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Run the Streamlit application</a:t>
            </a:r>
            <a:endParaRPr lang="en-US" sz="950" dirty="0"/>
          </a:p>
        </p:txBody>
      </p:sp>
      <p:sp>
        <p:nvSpPr>
          <p:cNvPr id="11" name="Text 9"/>
          <p:cNvSpPr/>
          <p:nvPr/>
        </p:nvSpPr>
        <p:spPr>
          <a:xfrm>
            <a:off x="4206240" y="1655064"/>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IaaS, elasticity</a:t>
            </a:r>
            <a:endParaRPr lang="en-US" sz="850" dirty="0"/>
          </a:p>
        </p:txBody>
      </p:sp>
      <p:sp>
        <p:nvSpPr>
          <p:cNvPr id="12" name="Shape 10"/>
          <p:cNvSpPr/>
          <p:nvPr/>
        </p:nvSpPr>
        <p:spPr>
          <a:xfrm>
            <a:off x="6263640" y="1463040"/>
            <a:ext cx="5349240" cy="640080"/>
          </a:xfrm>
          <a:prstGeom prst="roundRect">
            <a:avLst>
              <a:gd name="adj" fmla="val 7143"/>
            </a:avLst>
          </a:prstGeom>
          <a:solidFill>
            <a:srgbClr val="EDEFE4"/>
          </a:solidFill>
          <a:ln w="9525">
            <a:solidFill>
              <a:srgbClr val="C3CBB5"/>
            </a:solidFill>
            <a:prstDash val="solid"/>
          </a:ln>
        </p:spPr>
      </p:sp>
      <p:sp>
        <p:nvSpPr>
          <p:cNvPr id="13" name="Text 11"/>
          <p:cNvSpPr/>
          <p:nvPr/>
        </p:nvSpPr>
        <p:spPr>
          <a:xfrm>
            <a:off x="6428232" y="1517904"/>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Database for MySQL</a:t>
            </a:r>
            <a:endParaRPr lang="en-US" sz="1100" dirty="0"/>
          </a:p>
        </p:txBody>
      </p:sp>
      <p:sp>
        <p:nvSpPr>
          <p:cNvPr id="14" name="Text 12"/>
          <p:cNvSpPr/>
          <p:nvPr/>
        </p:nvSpPr>
        <p:spPr>
          <a:xfrm>
            <a:off x="6428232" y="1792224"/>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Managed database, Flexible Server</a:t>
            </a:r>
            <a:endParaRPr lang="en-US" sz="950" dirty="0"/>
          </a:p>
        </p:txBody>
      </p:sp>
      <p:sp>
        <p:nvSpPr>
          <p:cNvPr id="15" name="Text 13"/>
          <p:cNvSpPr/>
          <p:nvPr/>
        </p:nvSpPr>
        <p:spPr>
          <a:xfrm>
            <a:off x="9921240" y="1655064"/>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PaaS, managed services</a:t>
            </a:r>
            <a:endParaRPr lang="en-US" sz="850" dirty="0"/>
          </a:p>
        </p:txBody>
      </p:sp>
      <p:sp>
        <p:nvSpPr>
          <p:cNvPr id="16" name="Shape 14"/>
          <p:cNvSpPr/>
          <p:nvPr/>
        </p:nvSpPr>
        <p:spPr>
          <a:xfrm>
            <a:off x="548640" y="2203704"/>
            <a:ext cx="5349240" cy="640080"/>
          </a:xfrm>
          <a:prstGeom prst="roundRect">
            <a:avLst>
              <a:gd name="adj" fmla="val 7143"/>
            </a:avLst>
          </a:prstGeom>
          <a:solidFill>
            <a:srgbClr val="FFFFFF"/>
          </a:solidFill>
          <a:ln w="9525">
            <a:solidFill>
              <a:srgbClr val="C3CBB5"/>
            </a:solidFill>
            <a:prstDash val="solid"/>
          </a:ln>
        </p:spPr>
      </p:sp>
      <p:sp>
        <p:nvSpPr>
          <p:cNvPr id="17" name="Text 15"/>
          <p:cNvSpPr/>
          <p:nvPr/>
        </p:nvSpPr>
        <p:spPr>
          <a:xfrm>
            <a:off x="713232" y="2258568"/>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Application Gateway v2</a:t>
            </a:r>
            <a:endParaRPr lang="en-US" sz="1100" dirty="0"/>
          </a:p>
        </p:txBody>
      </p:sp>
      <p:sp>
        <p:nvSpPr>
          <p:cNvPr id="18" name="Text 16"/>
          <p:cNvSpPr/>
          <p:nvPr/>
        </p:nvSpPr>
        <p:spPr>
          <a:xfrm>
            <a:off x="713232" y="2532888"/>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Layer-7 load balancing and health probes</a:t>
            </a:r>
            <a:endParaRPr lang="en-US" sz="950" dirty="0"/>
          </a:p>
        </p:txBody>
      </p:sp>
      <p:sp>
        <p:nvSpPr>
          <p:cNvPr id="19" name="Text 17"/>
          <p:cNvSpPr/>
          <p:nvPr/>
        </p:nvSpPr>
        <p:spPr>
          <a:xfrm>
            <a:off x="4206240" y="2395728"/>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Load balancing</a:t>
            </a:r>
            <a:endParaRPr lang="en-US" sz="850" dirty="0"/>
          </a:p>
        </p:txBody>
      </p:sp>
      <p:sp>
        <p:nvSpPr>
          <p:cNvPr id="20" name="Shape 18"/>
          <p:cNvSpPr/>
          <p:nvPr/>
        </p:nvSpPr>
        <p:spPr>
          <a:xfrm>
            <a:off x="6263640" y="2203704"/>
            <a:ext cx="5349240" cy="640080"/>
          </a:xfrm>
          <a:prstGeom prst="roundRect">
            <a:avLst>
              <a:gd name="adj" fmla="val 7143"/>
            </a:avLst>
          </a:prstGeom>
          <a:solidFill>
            <a:srgbClr val="EDEFE4"/>
          </a:solidFill>
          <a:ln w="9525">
            <a:solidFill>
              <a:srgbClr val="C3CBB5"/>
            </a:solidFill>
            <a:prstDash val="solid"/>
          </a:ln>
        </p:spPr>
      </p:sp>
      <p:sp>
        <p:nvSpPr>
          <p:cNvPr id="21" name="Text 19"/>
          <p:cNvSpPr/>
          <p:nvPr/>
        </p:nvSpPr>
        <p:spPr>
          <a:xfrm>
            <a:off x="6428232" y="2258568"/>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Virtual Network</a:t>
            </a:r>
            <a:endParaRPr lang="en-US" sz="1100" dirty="0"/>
          </a:p>
        </p:txBody>
      </p:sp>
      <p:sp>
        <p:nvSpPr>
          <p:cNvPr id="22" name="Text 20"/>
          <p:cNvSpPr/>
          <p:nvPr/>
        </p:nvSpPr>
        <p:spPr>
          <a:xfrm>
            <a:off x="6428232" y="2532888"/>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Private network with three subnets</a:t>
            </a:r>
            <a:endParaRPr lang="en-US" sz="950" dirty="0"/>
          </a:p>
        </p:txBody>
      </p:sp>
      <p:sp>
        <p:nvSpPr>
          <p:cNvPr id="23" name="Text 21"/>
          <p:cNvSpPr/>
          <p:nvPr/>
        </p:nvSpPr>
        <p:spPr>
          <a:xfrm>
            <a:off x="9921240" y="2395728"/>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Network isolation</a:t>
            </a:r>
            <a:endParaRPr lang="en-US" sz="850" dirty="0"/>
          </a:p>
        </p:txBody>
      </p:sp>
      <p:sp>
        <p:nvSpPr>
          <p:cNvPr id="24" name="Shape 22"/>
          <p:cNvSpPr/>
          <p:nvPr/>
        </p:nvSpPr>
        <p:spPr>
          <a:xfrm>
            <a:off x="548640" y="2944368"/>
            <a:ext cx="5349240" cy="640080"/>
          </a:xfrm>
          <a:prstGeom prst="roundRect">
            <a:avLst>
              <a:gd name="adj" fmla="val 7143"/>
            </a:avLst>
          </a:prstGeom>
          <a:solidFill>
            <a:srgbClr val="FFFFFF"/>
          </a:solidFill>
          <a:ln w="9525">
            <a:solidFill>
              <a:srgbClr val="C3CBB5"/>
            </a:solidFill>
            <a:prstDash val="solid"/>
          </a:ln>
        </p:spPr>
      </p:sp>
      <p:sp>
        <p:nvSpPr>
          <p:cNvPr id="25" name="Text 23"/>
          <p:cNvSpPr/>
          <p:nvPr/>
        </p:nvSpPr>
        <p:spPr>
          <a:xfrm>
            <a:off x="713232" y="2999232"/>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Network Security Groups</a:t>
            </a:r>
            <a:endParaRPr lang="en-US" sz="1100" dirty="0"/>
          </a:p>
        </p:txBody>
      </p:sp>
      <p:sp>
        <p:nvSpPr>
          <p:cNvPr id="26" name="Text 24"/>
          <p:cNvSpPr/>
          <p:nvPr/>
        </p:nvSpPr>
        <p:spPr>
          <a:xfrm>
            <a:off x="713232" y="3273552"/>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Per-tier firewall rules</a:t>
            </a:r>
            <a:endParaRPr lang="en-US" sz="950" dirty="0"/>
          </a:p>
        </p:txBody>
      </p:sp>
      <p:sp>
        <p:nvSpPr>
          <p:cNvPr id="27" name="Text 25"/>
          <p:cNvSpPr/>
          <p:nvPr/>
        </p:nvSpPr>
        <p:spPr>
          <a:xfrm>
            <a:off x="4206240" y="3136392"/>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Defence in depth</a:t>
            </a:r>
            <a:endParaRPr lang="en-US" sz="850" dirty="0"/>
          </a:p>
        </p:txBody>
      </p:sp>
      <p:sp>
        <p:nvSpPr>
          <p:cNvPr id="28" name="Shape 26"/>
          <p:cNvSpPr/>
          <p:nvPr/>
        </p:nvSpPr>
        <p:spPr>
          <a:xfrm>
            <a:off x="6263640" y="2944368"/>
            <a:ext cx="5349240" cy="640080"/>
          </a:xfrm>
          <a:prstGeom prst="roundRect">
            <a:avLst>
              <a:gd name="adj" fmla="val 7143"/>
            </a:avLst>
          </a:prstGeom>
          <a:solidFill>
            <a:srgbClr val="EDEFE4"/>
          </a:solidFill>
          <a:ln w="9525">
            <a:solidFill>
              <a:srgbClr val="C3CBB5"/>
            </a:solidFill>
            <a:prstDash val="solid"/>
          </a:ln>
        </p:spPr>
      </p:sp>
      <p:sp>
        <p:nvSpPr>
          <p:cNvPr id="29" name="Text 27"/>
          <p:cNvSpPr/>
          <p:nvPr/>
        </p:nvSpPr>
        <p:spPr>
          <a:xfrm>
            <a:off x="6428232" y="2999232"/>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Key Vault</a:t>
            </a:r>
            <a:endParaRPr lang="en-US" sz="1100" dirty="0"/>
          </a:p>
        </p:txBody>
      </p:sp>
      <p:sp>
        <p:nvSpPr>
          <p:cNvPr id="30" name="Text 28"/>
          <p:cNvSpPr/>
          <p:nvPr/>
        </p:nvSpPr>
        <p:spPr>
          <a:xfrm>
            <a:off x="6428232" y="3273552"/>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Stores the database password</a:t>
            </a:r>
            <a:endParaRPr lang="en-US" sz="950" dirty="0"/>
          </a:p>
        </p:txBody>
      </p:sp>
      <p:sp>
        <p:nvSpPr>
          <p:cNvPr id="31" name="Text 29"/>
          <p:cNvSpPr/>
          <p:nvPr/>
        </p:nvSpPr>
        <p:spPr>
          <a:xfrm>
            <a:off x="9921240" y="3136392"/>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Secrets management</a:t>
            </a:r>
            <a:endParaRPr lang="en-US" sz="850" dirty="0"/>
          </a:p>
        </p:txBody>
      </p:sp>
      <p:sp>
        <p:nvSpPr>
          <p:cNvPr id="32" name="Shape 30"/>
          <p:cNvSpPr/>
          <p:nvPr/>
        </p:nvSpPr>
        <p:spPr>
          <a:xfrm>
            <a:off x="548640" y="3685032"/>
            <a:ext cx="5349240" cy="640080"/>
          </a:xfrm>
          <a:prstGeom prst="roundRect">
            <a:avLst>
              <a:gd name="adj" fmla="val 7143"/>
            </a:avLst>
          </a:prstGeom>
          <a:solidFill>
            <a:srgbClr val="FFFFFF"/>
          </a:solidFill>
          <a:ln w="9525">
            <a:solidFill>
              <a:srgbClr val="C3CBB5"/>
            </a:solidFill>
            <a:prstDash val="solid"/>
          </a:ln>
        </p:spPr>
      </p:sp>
      <p:sp>
        <p:nvSpPr>
          <p:cNvPr id="33" name="Text 31"/>
          <p:cNvSpPr/>
          <p:nvPr/>
        </p:nvSpPr>
        <p:spPr>
          <a:xfrm>
            <a:off x="713232" y="3739896"/>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Microsoft Entra ID</a:t>
            </a:r>
            <a:endParaRPr lang="en-US" sz="1100" dirty="0"/>
          </a:p>
        </p:txBody>
      </p:sp>
      <p:sp>
        <p:nvSpPr>
          <p:cNvPr id="34" name="Text 32"/>
          <p:cNvSpPr/>
          <p:nvPr/>
        </p:nvSpPr>
        <p:spPr>
          <a:xfrm>
            <a:off x="713232" y="4014216"/>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Managed identity and Azure RBAC</a:t>
            </a:r>
            <a:endParaRPr lang="en-US" sz="950" dirty="0"/>
          </a:p>
        </p:txBody>
      </p:sp>
      <p:sp>
        <p:nvSpPr>
          <p:cNvPr id="35" name="Text 33"/>
          <p:cNvSpPr/>
          <p:nvPr/>
        </p:nvSpPr>
        <p:spPr>
          <a:xfrm>
            <a:off x="4206240" y="3877056"/>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Identity and access</a:t>
            </a:r>
            <a:endParaRPr lang="en-US" sz="850" dirty="0"/>
          </a:p>
        </p:txBody>
      </p:sp>
      <p:sp>
        <p:nvSpPr>
          <p:cNvPr id="36" name="Shape 34"/>
          <p:cNvSpPr/>
          <p:nvPr/>
        </p:nvSpPr>
        <p:spPr>
          <a:xfrm>
            <a:off x="6263640" y="3685032"/>
            <a:ext cx="5349240" cy="640080"/>
          </a:xfrm>
          <a:prstGeom prst="roundRect">
            <a:avLst>
              <a:gd name="adj" fmla="val 7143"/>
            </a:avLst>
          </a:prstGeom>
          <a:solidFill>
            <a:srgbClr val="EDEFE4"/>
          </a:solidFill>
          <a:ln w="9525">
            <a:solidFill>
              <a:srgbClr val="C3CBB5"/>
            </a:solidFill>
            <a:prstDash val="solid"/>
          </a:ln>
        </p:spPr>
      </p:sp>
      <p:sp>
        <p:nvSpPr>
          <p:cNvPr id="37" name="Text 35"/>
          <p:cNvSpPr/>
          <p:nvPr/>
        </p:nvSpPr>
        <p:spPr>
          <a:xfrm>
            <a:off x="6428232" y="3739896"/>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Monitor</a:t>
            </a:r>
            <a:endParaRPr lang="en-US" sz="1100" dirty="0"/>
          </a:p>
        </p:txBody>
      </p:sp>
      <p:sp>
        <p:nvSpPr>
          <p:cNvPr id="38" name="Text 36"/>
          <p:cNvSpPr/>
          <p:nvPr/>
        </p:nvSpPr>
        <p:spPr>
          <a:xfrm>
            <a:off x="6428232" y="4014216"/>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Metrics, logs and alert rules</a:t>
            </a:r>
            <a:endParaRPr lang="en-US" sz="950" dirty="0"/>
          </a:p>
        </p:txBody>
      </p:sp>
      <p:sp>
        <p:nvSpPr>
          <p:cNvPr id="39" name="Text 37"/>
          <p:cNvSpPr/>
          <p:nvPr/>
        </p:nvSpPr>
        <p:spPr>
          <a:xfrm>
            <a:off x="9921240" y="3877056"/>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Observability</a:t>
            </a:r>
            <a:endParaRPr lang="en-US" sz="850" dirty="0"/>
          </a:p>
        </p:txBody>
      </p:sp>
      <p:sp>
        <p:nvSpPr>
          <p:cNvPr id="40" name="Shape 38"/>
          <p:cNvSpPr/>
          <p:nvPr/>
        </p:nvSpPr>
        <p:spPr>
          <a:xfrm>
            <a:off x="548640" y="4425696"/>
            <a:ext cx="5349240" cy="640080"/>
          </a:xfrm>
          <a:prstGeom prst="roundRect">
            <a:avLst>
              <a:gd name="adj" fmla="val 7143"/>
            </a:avLst>
          </a:prstGeom>
          <a:solidFill>
            <a:srgbClr val="FFFFFF"/>
          </a:solidFill>
          <a:ln w="9525">
            <a:solidFill>
              <a:srgbClr val="C3CBB5"/>
            </a:solidFill>
            <a:prstDash val="solid"/>
          </a:ln>
        </p:spPr>
      </p:sp>
      <p:sp>
        <p:nvSpPr>
          <p:cNvPr id="41" name="Text 39"/>
          <p:cNvSpPr/>
          <p:nvPr/>
        </p:nvSpPr>
        <p:spPr>
          <a:xfrm>
            <a:off x="713232" y="4480560"/>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Blob Storage</a:t>
            </a:r>
            <a:endParaRPr lang="en-US" sz="1100" dirty="0"/>
          </a:p>
        </p:txBody>
      </p:sp>
      <p:sp>
        <p:nvSpPr>
          <p:cNvPr id="42" name="Text 40"/>
          <p:cNvSpPr/>
          <p:nvPr/>
        </p:nvSpPr>
        <p:spPr>
          <a:xfrm>
            <a:off x="713232" y="4754880"/>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Automated database backups</a:t>
            </a:r>
            <a:endParaRPr lang="en-US" sz="950" dirty="0"/>
          </a:p>
        </p:txBody>
      </p:sp>
      <p:sp>
        <p:nvSpPr>
          <p:cNvPr id="43" name="Text 41"/>
          <p:cNvSpPr/>
          <p:nvPr/>
        </p:nvSpPr>
        <p:spPr>
          <a:xfrm>
            <a:off x="4206240" y="4617720"/>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Durable object storage</a:t>
            </a:r>
            <a:endParaRPr lang="en-US" sz="850" dirty="0"/>
          </a:p>
        </p:txBody>
      </p:sp>
      <p:sp>
        <p:nvSpPr>
          <p:cNvPr id="44" name="Shape 42"/>
          <p:cNvSpPr/>
          <p:nvPr/>
        </p:nvSpPr>
        <p:spPr>
          <a:xfrm>
            <a:off x="6263640" y="4425696"/>
            <a:ext cx="5349240" cy="640080"/>
          </a:xfrm>
          <a:prstGeom prst="roundRect">
            <a:avLst>
              <a:gd name="adj" fmla="val 7143"/>
            </a:avLst>
          </a:prstGeom>
          <a:solidFill>
            <a:srgbClr val="EDEFE4"/>
          </a:solidFill>
          <a:ln w="9525">
            <a:solidFill>
              <a:srgbClr val="C3CBB5"/>
            </a:solidFill>
            <a:prstDash val="solid"/>
          </a:ln>
        </p:spPr>
      </p:sp>
      <p:sp>
        <p:nvSpPr>
          <p:cNvPr id="45" name="Text 43"/>
          <p:cNvSpPr/>
          <p:nvPr/>
        </p:nvSpPr>
        <p:spPr>
          <a:xfrm>
            <a:off x="6428232" y="4480560"/>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Availability Zones</a:t>
            </a:r>
            <a:endParaRPr lang="en-US" sz="1100" dirty="0"/>
          </a:p>
        </p:txBody>
      </p:sp>
      <p:sp>
        <p:nvSpPr>
          <p:cNvPr id="46" name="Text 44"/>
          <p:cNvSpPr/>
          <p:nvPr/>
        </p:nvSpPr>
        <p:spPr>
          <a:xfrm>
            <a:off x="6428232" y="4754880"/>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Two physically separate datacentres</a:t>
            </a:r>
            <a:endParaRPr lang="en-US" sz="950" dirty="0"/>
          </a:p>
        </p:txBody>
      </p:sp>
      <p:sp>
        <p:nvSpPr>
          <p:cNvPr id="47" name="Text 45"/>
          <p:cNvSpPr/>
          <p:nvPr/>
        </p:nvSpPr>
        <p:spPr>
          <a:xfrm>
            <a:off x="9921240" y="4617720"/>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Fault tolerance</a:t>
            </a:r>
            <a:endParaRPr lang="en-US" sz="850" dirty="0"/>
          </a:p>
        </p:txBody>
      </p:sp>
      <p:sp>
        <p:nvSpPr>
          <p:cNvPr id="48" name="Shape 46"/>
          <p:cNvSpPr/>
          <p:nvPr/>
        </p:nvSpPr>
        <p:spPr>
          <a:xfrm>
            <a:off x="548640" y="5166360"/>
            <a:ext cx="5349240" cy="640080"/>
          </a:xfrm>
          <a:prstGeom prst="roundRect">
            <a:avLst>
              <a:gd name="adj" fmla="val 7143"/>
            </a:avLst>
          </a:prstGeom>
          <a:solidFill>
            <a:srgbClr val="FFFFFF"/>
          </a:solidFill>
          <a:ln w="9525">
            <a:solidFill>
              <a:srgbClr val="C3CBB5"/>
            </a:solidFill>
            <a:prstDash val="solid"/>
          </a:ln>
        </p:spPr>
      </p:sp>
      <p:sp>
        <p:nvSpPr>
          <p:cNvPr id="49" name="Text 47"/>
          <p:cNvSpPr/>
          <p:nvPr/>
        </p:nvSpPr>
        <p:spPr>
          <a:xfrm>
            <a:off x="713232" y="5221224"/>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Bicep</a:t>
            </a:r>
            <a:endParaRPr lang="en-US" sz="1100" dirty="0"/>
          </a:p>
        </p:txBody>
      </p:sp>
      <p:sp>
        <p:nvSpPr>
          <p:cNvPr id="50" name="Text 48"/>
          <p:cNvSpPr/>
          <p:nvPr/>
        </p:nvSpPr>
        <p:spPr>
          <a:xfrm>
            <a:off x="713232" y="5495544"/>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Declares the whole environment as code</a:t>
            </a:r>
            <a:endParaRPr lang="en-US" sz="950" dirty="0"/>
          </a:p>
        </p:txBody>
      </p:sp>
      <p:sp>
        <p:nvSpPr>
          <p:cNvPr id="51" name="Text 49"/>
          <p:cNvSpPr/>
          <p:nvPr/>
        </p:nvSpPr>
        <p:spPr>
          <a:xfrm>
            <a:off x="4206240" y="5358384"/>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Infrastructure as code</a:t>
            </a:r>
            <a:endParaRPr lang="en-US" sz="850" dirty="0"/>
          </a:p>
        </p:txBody>
      </p:sp>
      <p:sp>
        <p:nvSpPr>
          <p:cNvPr id="52" name="Shape 50"/>
          <p:cNvSpPr/>
          <p:nvPr/>
        </p:nvSpPr>
        <p:spPr>
          <a:xfrm>
            <a:off x="6263640" y="5166360"/>
            <a:ext cx="5349240" cy="640080"/>
          </a:xfrm>
          <a:prstGeom prst="roundRect">
            <a:avLst>
              <a:gd name="adj" fmla="val 7143"/>
            </a:avLst>
          </a:prstGeom>
          <a:solidFill>
            <a:srgbClr val="EDEFE4"/>
          </a:solidFill>
          <a:ln w="9525">
            <a:solidFill>
              <a:srgbClr val="C3CBB5"/>
            </a:solidFill>
            <a:prstDash val="solid"/>
          </a:ln>
        </p:spPr>
      </p:sp>
      <p:sp>
        <p:nvSpPr>
          <p:cNvPr id="53" name="Text 51"/>
          <p:cNvSpPr/>
          <p:nvPr/>
        </p:nvSpPr>
        <p:spPr>
          <a:xfrm>
            <a:off x="6428232" y="5221224"/>
            <a:ext cx="2286000" cy="274320"/>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Azure for Students</a:t>
            </a:r>
            <a:endParaRPr lang="en-US" sz="1100" dirty="0"/>
          </a:p>
        </p:txBody>
      </p:sp>
      <p:sp>
        <p:nvSpPr>
          <p:cNvPr id="54" name="Text 52"/>
          <p:cNvSpPr/>
          <p:nvPr/>
        </p:nvSpPr>
        <p:spPr>
          <a:xfrm>
            <a:off x="6428232" y="5495544"/>
            <a:ext cx="3657600" cy="256032"/>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Free credit, cost control</a:t>
            </a:r>
            <a:endParaRPr lang="en-US" sz="950" dirty="0"/>
          </a:p>
        </p:txBody>
      </p:sp>
      <p:sp>
        <p:nvSpPr>
          <p:cNvPr id="55" name="Text 53"/>
          <p:cNvSpPr/>
          <p:nvPr/>
        </p:nvSpPr>
        <p:spPr>
          <a:xfrm>
            <a:off x="9921240" y="5358384"/>
            <a:ext cx="1554480" cy="274320"/>
          </a:xfrm>
          <a:prstGeom prst="rect">
            <a:avLst/>
          </a:prstGeom>
          <a:noFill/>
          <a:ln/>
        </p:spPr>
        <p:txBody>
          <a:bodyPr wrap="square" rtlCol="0" anchor="ctr"/>
          <a:lstStyle/>
          <a:p>
            <a:pPr algn="r" indent="0" marL="0">
              <a:buNone/>
            </a:pPr>
            <a:r>
              <a:rPr lang="en-US" sz="850" i="1" dirty="0">
                <a:solidFill>
                  <a:srgbClr val="588157"/>
                </a:solidFill>
                <a:latin typeface="Calibri" pitchFamily="34" charset="0"/>
                <a:ea typeface="Calibri" pitchFamily="34" charset="-122"/>
                <a:cs typeface="Calibri" pitchFamily="34" charset="-120"/>
              </a:rPr>
              <a:t>Pay-as-you-go pricing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9</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Infrastructure as Code</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The entire environment is declared in Azure Bicep, not clicked together in the portal</a:t>
            </a:r>
            <a:endParaRPr lang="en-US" sz="1250" dirty="0"/>
          </a:p>
        </p:txBody>
      </p:sp>
      <p:sp>
        <p:nvSpPr>
          <p:cNvPr id="8" name="Shape 6"/>
          <p:cNvSpPr/>
          <p:nvPr/>
        </p:nvSpPr>
        <p:spPr>
          <a:xfrm>
            <a:off x="548640" y="1463040"/>
            <a:ext cx="5760720" cy="3200400"/>
          </a:xfrm>
          <a:prstGeom prst="roundRect">
            <a:avLst>
              <a:gd name="adj" fmla="val 1429"/>
            </a:avLst>
          </a:prstGeom>
          <a:solidFill>
            <a:srgbClr val="EFF1E8"/>
          </a:solidFill>
          <a:ln w="12700">
            <a:solidFill>
              <a:srgbClr val="C3CBB5"/>
            </a:solidFill>
            <a:prstDash val="solid"/>
          </a:ln>
        </p:spPr>
      </p:sp>
      <p:sp>
        <p:nvSpPr>
          <p:cNvPr id="9" name="Text 7"/>
          <p:cNvSpPr/>
          <p:nvPr/>
        </p:nvSpPr>
        <p:spPr>
          <a:xfrm>
            <a:off x="731520" y="1591056"/>
            <a:ext cx="5394960" cy="2944368"/>
          </a:xfrm>
          <a:prstGeom prst="rect">
            <a:avLst/>
          </a:prstGeom>
          <a:noFill/>
          <a:ln/>
        </p:spPr>
        <p:txBody>
          <a:bodyPr wrap="square" rtlCol="0" anchor="ctr"/>
          <a:lstStyle/>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modules/compute.bicep  -  autoscale rule</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resource autoscale 'Microsoft.Insights/autoscalesettings@2022-10-01' =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properties: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profiles: [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capacity: { minimum: '2', maximum: '6', default: '2'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rules: [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metricTrigger: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metricName: 'Percentage CPU'</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timeWindow:  'PT5M'</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operator:    'GreaterThan'</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threshold:   70</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scaleAction: {</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direction: 'Increase'</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value:     '1'</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cooldown:  'PT5M'</a:t>
            </a:r>
            <a:endParaRPr lang="en-US" sz="900" dirty="0"/>
          </a:p>
          <a:p>
            <a:pPr indent="0" marL="0">
              <a:lnSpc>
                <a:spcPts val="1215"/>
              </a:lnSpc>
              <a:buNone/>
            </a:pPr>
            <a:r>
              <a:rPr lang="en-US" sz="900" dirty="0">
                <a:solidFill>
                  <a:srgbClr val="24352B"/>
                </a:solidFill>
                <a:latin typeface="Consolas" pitchFamily="34" charset="0"/>
                <a:ea typeface="Consolas" pitchFamily="34" charset="-122"/>
                <a:cs typeface="Consolas" pitchFamily="34" charset="-120"/>
              </a:rPr>
              <a:t>        } } ] } ] } }</a:t>
            </a:r>
            <a:endParaRPr lang="en-US" sz="900" dirty="0"/>
          </a:p>
        </p:txBody>
      </p:sp>
      <p:sp>
        <p:nvSpPr>
          <p:cNvPr id="10" name="Shape 8"/>
          <p:cNvSpPr/>
          <p:nvPr/>
        </p:nvSpPr>
        <p:spPr>
          <a:xfrm>
            <a:off x="6537960" y="1463040"/>
            <a:ext cx="5074920" cy="365760"/>
          </a:xfrm>
          <a:prstGeom prst="roundRect">
            <a:avLst>
              <a:gd name="adj" fmla="val 10000"/>
            </a:avLst>
          </a:prstGeom>
          <a:solidFill>
            <a:srgbClr val="EDEFE4"/>
          </a:solidFill>
          <a:ln w="9525">
            <a:solidFill>
              <a:srgbClr val="C3CBB5"/>
            </a:solidFill>
            <a:prstDash val="solid"/>
          </a:ln>
        </p:spPr>
      </p:sp>
      <p:sp>
        <p:nvSpPr>
          <p:cNvPr id="11" name="Text 9"/>
          <p:cNvSpPr/>
          <p:nvPr/>
        </p:nvSpPr>
        <p:spPr>
          <a:xfrm>
            <a:off x="6684264" y="1508760"/>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main.bicep</a:t>
            </a:r>
            <a:endParaRPr lang="en-US" sz="950" dirty="0"/>
          </a:p>
        </p:txBody>
      </p:sp>
      <p:sp>
        <p:nvSpPr>
          <p:cNvPr id="12" name="Text 10"/>
          <p:cNvSpPr/>
          <p:nvPr/>
        </p:nvSpPr>
        <p:spPr>
          <a:xfrm>
            <a:off x="8942832" y="1508760"/>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Orchestrates all six modules and wires their outputs together</a:t>
            </a:r>
            <a:endParaRPr lang="en-US" sz="950" dirty="0"/>
          </a:p>
        </p:txBody>
      </p:sp>
      <p:sp>
        <p:nvSpPr>
          <p:cNvPr id="13" name="Shape 11"/>
          <p:cNvSpPr/>
          <p:nvPr/>
        </p:nvSpPr>
        <p:spPr>
          <a:xfrm>
            <a:off x="6537960" y="1892808"/>
            <a:ext cx="5074920" cy="365760"/>
          </a:xfrm>
          <a:prstGeom prst="roundRect">
            <a:avLst>
              <a:gd name="adj" fmla="val 10000"/>
            </a:avLst>
          </a:prstGeom>
          <a:solidFill>
            <a:srgbClr val="FFFFFF"/>
          </a:solidFill>
          <a:ln w="9525">
            <a:solidFill>
              <a:srgbClr val="C3CBB5"/>
            </a:solidFill>
            <a:prstDash val="solid"/>
          </a:ln>
        </p:spPr>
      </p:sp>
      <p:sp>
        <p:nvSpPr>
          <p:cNvPr id="14" name="Text 12"/>
          <p:cNvSpPr/>
          <p:nvPr/>
        </p:nvSpPr>
        <p:spPr>
          <a:xfrm>
            <a:off x="6684264" y="1938528"/>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modules/network.bicep</a:t>
            </a:r>
            <a:endParaRPr lang="en-US" sz="950" dirty="0"/>
          </a:p>
        </p:txBody>
      </p:sp>
      <p:sp>
        <p:nvSpPr>
          <p:cNvPr id="15" name="Text 13"/>
          <p:cNvSpPr/>
          <p:nvPr/>
        </p:nvSpPr>
        <p:spPr>
          <a:xfrm>
            <a:off x="8942832" y="1938528"/>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VNet, three subnets, three network security groups</a:t>
            </a:r>
            <a:endParaRPr lang="en-US" sz="950" dirty="0"/>
          </a:p>
        </p:txBody>
      </p:sp>
      <p:sp>
        <p:nvSpPr>
          <p:cNvPr id="16" name="Shape 14"/>
          <p:cNvSpPr/>
          <p:nvPr/>
        </p:nvSpPr>
        <p:spPr>
          <a:xfrm>
            <a:off x="6537960" y="2322576"/>
            <a:ext cx="5074920" cy="365760"/>
          </a:xfrm>
          <a:prstGeom prst="roundRect">
            <a:avLst>
              <a:gd name="adj" fmla="val 10000"/>
            </a:avLst>
          </a:prstGeom>
          <a:solidFill>
            <a:srgbClr val="EDEFE4"/>
          </a:solidFill>
          <a:ln w="9525">
            <a:solidFill>
              <a:srgbClr val="C3CBB5"/>
            </a:solidFill>
            <a:prstDash val="solid"/>
          </a:ln>
        </p:spPr>
      </p:sp>
      <p:sp>
        <p:nvSpPr>
          <p:cNvPr id="17" name="Text 15"/>
          <p:cNvSpPr/>
          <p:nvPr/>
        </p:nvSpPr>
        <p:spPr>
          <a:xfrm>
            <a:off x="6684264" y="2368296"/>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modules/database.bicep</a:t>
            </a:r>
            <a:endParaRPr lang="en-US" sz="950" dirty="0"/>
          </a:p>
        </p:txBody>
      </p:sp>
      <p:sp>
        <p:nvSpPr>
          <p:cNvPr id="18" name="Text 16"/>
          <p:cNvSpPr/>
          <p:nvPr/>
        </p:nvSpPr>
        <p:spPr>
          <a:xfrm>
            <a:off x="8942832" y="2368296"/>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MySQL Flexible Server, private DNS zone, HA options</a:t>
            </a:r>
            <a:endParaRPr lang="en-US" sz="950" dirty="0"/>
          </a:p>
        </p:txBody>
      </p:sp>
      <p:sp>
        <p:nvSpPr>
          <p:cNvPr id="19" name="Shape 17"/>
          <p:cNvSpPr/>
          <p:nvPr/>
        </p:nvSpPr>
        <p:spPr>
          <a:xfrm>
            <a:off x="6537960" y="2752344"/>
            <a:ext cx="5074920" cy="365760"/>
          </a:xfrm>
          <a:prstGeom prst="roundRect">
            <a:avLst>
              <a:gd name="adj" fmla="val 10000"/>
            </a:avLst>
          </a:prstGeom>
          <a:solidFill>
            <a:srgbClr val="FFFFFF"/>
          </a:solidFill>
          <a:ln w="9525">
            <a:solidFill>
              <a:srgbClr val="C3CBB5"/>
            </a:solidFill>
            <a:prstDash val="solid"/>
          </a:ln>
        </p:spPr>
      </p:sp>
      <p:sp>
        <p:nvSpPr>
          <p:cNvPr id="20" name="Text 18"/>
          <p:cNvSpPr/>
          <p:nvPr/>
        </p:nvSpPr>
        <p:spPr>
          <a:xfrm>
            <a:off x="6684264" y="2798064"/>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modules/keyvault.bicep</a:t>
            </a:r>
            <a:endParaRPr lang="en-US" sz="950" dirty="0"/>
          </a:p>
        </p:txBody>
      </p:sp>
      <p:sp>
        <p:nvSpPr>
          <p:cNvPr id="21" name="Text 19"/>
          <p:cNvSpPr/>
          <p:nvPr/>
        </p:nvSpPr>
        <p:spPr>
          <a:xfrm>
            <a:off x="8942832" y="2798064"/>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Key Vault and the database password secret</a:t>
            </a:r>
            <a:endParaRPr lang="en-US" sz="950" dirty="0"/>
          </a:p>
        </p:txBody>
      </p:sp>
      <p:sp>
        <p:nvSpPr>
          <p:cNvPr id="22" name="Shape 20"/>
          <p:cNvSpPr/>
          <p:nvPr/>
        </p:nvSpPr>
        <p:spPr>
          <a:xfrm>
            <a:off x="6537960" y="3182112"/>
            <a:ext cx="5074920" cy="365760"/>
          </a:xfrm>
          <a:prstGeom prst="roundRect">
            <a:avLst>
              <a:gd name="adj" fmla="val 10000"/>
            </a:avLst>
          </a:prstGeom>
          <a:solidFill>
            <a:srgbClr val="EDEFE4"/>
          </a:solidFill>
          <a:ln w="9525">
            <a:solidFill>
              <a:srgbClr val="C3CBB5"/>
            </a:solidFill>
            <a:prstDash val="solid"/>
          </a:ln>
        </p:spPr>
      </p:sp>
      <p:sp>
        <p:nvSpPr>
          <p:cNvPr id="23" name="Text 21"/>
          <p:cNvSpPr/>
          <p:nvPr/>
        </p:nvSpPr>
        <p:spPr>
          <a:xfrm>
            <a:off x="6684264" y="3227832"/>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modules/gateway.bicep</a:t>
            </a:r>
            <a:endParaRPr lang="en-US" sz="950" dirty="0"/>
          </a:p>
        </p:txBody>
      </p:sp>
      <p:sp>
        <p:nvSpPr>
          <p:cNvPr id="24" name="Text 22"/>
          <p:cNvSpPr/>
          <p:nvPr/>
        </p:nvSpPr>
        <p:spPr>
          <a:xfrm>
            <a:off x="8942832" y="3227832"/>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Application Gateway, public IP, health probe</a:t>
            </a:r>
            <a:endParaRPr lang="en-US" sz="950" dirty="0"/>
          </a:p>
        </p:txBody>
      </p:sp>
      <p:sp>
        <p:nvSpPr>
          <p:cNvPr id="25" name="Shape 23"/>
          <p:cNvSpPr/>
          <p:nvPr/>
        </p:nvSpPr>
        <p:spPr>
          <a:xfrm>
            <a:off x="6537960" y="3611880"/>
            <a:ext cx="5074920" cy="365760"/>
          </a:xfrm>
          <a:prstGeom prst="roundRect">
            <a:avLst>
              <a:gd name="adj" fmla="val 10000"/>
            </a:avLst>
          </a:prstGeom>
          <a:solidFill>
            <a:srgbClr val="FFFFFF"/>
          </a:solidFill>
          <a:ln w="9525">
            <a:solidFill>
              <a:srgbClr val="C3CBB5"/>
            </a:solidFill>
            <a:prstDash val="solid"/>
          </a:ln>
        </p:spPr>
      </p:sp>
      <p:sp>
        <p:nvSpPr>
          <p:cNvPr id="26" name="Text 24"/>
          <p:cNvSpPr/>
          <p:nvPr/>
        </p:nvSpPr>
        <p:spPr>
          <a:xfrm>
            <a:off x="6684264" y="3657600"/>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modules/compute.bicep</a:t>
            </a:r>
            <a:endParaRPr lang="en-US" sz="950" dirty="0"/>
          </a:p>
        </p:txBody>
      </p:sp>
      <p:sp>
        <p:nvSpPr>
          <p:cNvPr id="27" name="Text 25"/>
          <p:cNvSpPr/>
          <p:nvPr/>
        </p:nvSpPr>
        <p:spPr>
          <a:xfrm>
            <a:off x="8942832" y="3657600"/>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Scale set, managed identity, autoscale rules</a:t>
            </a:r>
            <a:endParaRPr lang="en-US" sz="950" dirty="0"/>
          </a:p>
        </p:txBody>
      </p:sp>
      <p:sp>
        <p:nvSpPr>
          <p:cNvPr id="28" name="Shape 26"/>
          <p:cNvSpPr/>
          <p:nvPr/>
        </p:nvSpPr>
        <p:spPr>
          <a:xfrm>
            <a:off x="6537960" y="4041648"/>
            <a:ext cx="5074920" cy="365760"/>
          </a:xfrm>
          <a:prstGeom prst="roundRect">
            <a:avLst>
              <a:gd name="adj" fmla="val 10000"/>
            </a:avLst>
          </a:prstGeom>
          <a:solidFill>
            <a:srgbClr val="EDEFE4"/>
          </a:solidFill>
          <a:ln w="9525">
            <a:solidFill>
              <a:srgbClr val="C3CBB5"/>
            </a:solidFill>
            <a:prstDash val="solid"/>
          </a:ln>
        </p:spPr>
      </p:sp>
      <p:sp>
        <p:nvSpPr>
          <p:cNvPr id="29" name="Text 27"/>
          <p:cNvSpPr/>
          <p:nvPr/>
        </p:nvSpPr>
        <p:spPr>
          <a:xfrm>
            <a:off x="6684264" y="4087368"/>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modules/monitoring.bicep</a:t>
            </a:r>
            <a:endParaRPr lang="en-US" sz="950" dirty="0"/>
          </a:p>
        </p:txBody>
      </p:sp>
      <p:sp>
        <p:nvSpPr>
          <p:cNvPr id="30" name="Text 28"/>
          <p:cNvSpPr/>
          <p:nvPr/>
        </p:nvSpPr>
        <p:spPr>
          <a:xfrm>
            <a:off x="8942832" y="4087368"/>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Log Analytics workspace and alert rules</a:t>
            </a:r>
            <a:endParaRPr lang="en-US" sz="950" dirty="0"/>
          </a:p>
        </p:txBody>
      </p:sp>
      <p:sp>
        <p:nvSpPr>
          <p:cNvPr id="31" name="Shape 29"/>
          <p:cNvSpPr/>
          <p:nvPr/>
        </p:nvSpPr>
        <p:spPr>
          <a:xfrm>
            <a:off x="6537960" y="4471416"/>
            <a:ext cx="5074920" cy="365760"/>
          </a:xfrm>
          <a:prstGeom prst="roundRect">
            <a:avLst>
              <a:gd name="adj" fmla="val 10000"/>
            </a:avLst>
          </a:prstGeom>
          <a:solidFill>
            <a:srgbClr val="FFFFFF"/>
          </a:solidFill>
          <a:ln w="9525">
            <a:solidFill>
              <a:srgbClr val="C3CBB5"/>
            </a:solidFill>
            <a:prstDash val="solid"/>
          </a:ln>
        </p:spPr>
      </p:sp>
      <p:sp>
        <p:nvSpPr>
          <p:cNvPr id="32" name="Text 30"/>
          <p:cNvSpPr/>
          <p:nvPr/>
        </p:nvSpPr>
        <p:spPr>
          <a:xfrm>
            <a:off x="6684264" y="4517136"/>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cloud-init.yaml</a:t>
            </a:r>
            <a:endParaRPr lang="en-US" sz="950" dirty="0"/>
          </a:p>
        </p:txBody>
      </p:sp>
      <p:sp>
        <p:nvSpPr>
          <p:cNvPr id="33" name="Text 31"/>
          <p:cNvSpPr/>
          <p:nvPr/>
        </p:nvSpPr>
        <p:spPr>
          <a:xfrm>
            <a:off x="8942832" y="4517136"/>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Bootstraps each VM: packages, secret, systemd service</a:t>
            </a:r>
            <a:endParaRPr lang="en-US" sz="950" dirty="0"/>
          </a:p>
        </p:txBody>
      </p:sp>
      <p:sp>
        <p:nvSpPr>
          <p:cNvPr id="34" name="Shape 32"/>
          <p:cNvSpPr/>
          <p:nvPr/>
        </p:nvSpPr>
        <p:spPr>
          <a:xfrm>
            <a:off x="6537960" y="4901184"/>
            <a:ext cx="5074920" cy="365760"/>
          </a:xfrm>
          <a:prstGeom prst="roundRect">
            <a:avLst>
              <a:gd name="adj" fmla="val 10000"/>
            </a:avLst>
          </a:prstGeom>
          <a:solidFill>
            <a:srgbClr val="EDEFE4"/>
          </a:solidFill>
          <a:ln w="9525">
            <a:solidFill>
              <a:srgbClr val="C3CBB5"/>
            </a:solidFill>
            <a:prstDash val="solid"/>
          </a:ln>
        </p:spPr>
      </p:sp>
      <p:sp>
        <p:nvSpPr>
          <p:cNvPr id="35" name="Text 33"/>
          <p:cNvSpPr/>
          <p:nvPr/>
        </p:nvSpPr>
        <p:spPr>
          <a:xfrm>
            <a:off x="6684264" y="4946904"/>
            <a:ext cx="2148840" cy="274320"/>
          </a:xfrm>
          <a:prstGeom prst="rect">
            <a:avLst/>
          </a:prstGeom>
          <a:noFill/>
          <a:ln/>
        </p:spPr>
        <p:txBody>
          <a:bodyPr wrap="square" rtlCol="0" anchor="ctr"/>
          <a:lstStyle/>
          <a:p>
            <a:pPr indent="0" marL="0">
              <a:buNone/>
            </a:pPr>
            <a:r>
              <a:rPr lang="en-US" sz="950" b="1" dirty="0">
                <a:solidFill>
                  <a:srgbClr val="344E41"/>
                </a:solidFill>
                <a:latin typeface="Calibri" pitchFamily="34" charset="0"/>
                <a:ea typeface="Calibri" pitchFamily="34" charset="-122"/>
                <a:cs typeface="Calibri" pitchFamily="34" charset="-120"/>
              </a:rPr>
              <a:t>deploy.sh / destroy.sh</a:t>
            </a:r>
            <a:endParaRPr lang="en-US" sz="950" dirty="0"/>
          </a:p>
        </p:txBody>
      </p:sp>
      <p:sp>
        <p:nvSpPr>
          <p:cNvPr id="36" name="Text 34"/>
          <p:cNvSpPr/>
          <p:nvPr/>
        </p:nvSpPr>
        <p:spPr>
          <a:xfrm>
            <a:off x="8942832" y="4946904"/>
            <a:ext cx="2505456" cy="274320"/>
          </a:xfrm>
          <a:prstGeom prst="rect">
            <a:avLst/>
          </a:prstGeom>
          <a:noFill/>
          <a:ln/>
        </p:spPr>
        <p:txBody>
          <a:bodyPr wrap="square" rtlCol="0" anchor="ctr"/>
          <a:lstStyle/>
          <a:p>
            <a:pPr indent="0" marL="0">
              <a:buNone/>
            </a:pPr>
            <a:r>
              <a:rPr lang="en-US" sz="950" dirty="0">
                <a:solidFill>
                  <a:srgbClr val="344E41"/>
                </a:solidFill>
                <a:latin typeface="Calibri" pitchFamily="34" charset="0"/>
                <a:ea typeface="Calibri" pitchFamily="34" charset="-122"/>
                <a:cs typeface="Calibri" pitchFamily="34" charset="-120"/>
              </a:rPr>
              <a:t>One command to build the stack, one to remove it</a:t>
            </a:r>
            <a:endParaRPr lang="en-US" sz="950" dirty="0"/>
          </a:p>
        </p:txBody>
      </p:sp>
      <p:sp>
        <p:nvSpPr>
          <p:cNvPr id="37" name="Shape 35"/>
          <p:cNvSpPr/>
          <p:nvPr/>
        </p:nvSpPr>
        <p:spPr>
          <a:xfrm>
            <a:off x="548640" y="4846320"/>
            <a:ext cx="5760720" cy="1325880"/>
          </a:xfrm>
          <a:prstGeom prst="roundRect">
            <a:avLst>
              <a:gd name="adj" fmla="val 3448"/>
            </a:avLst>
          </a:prstGeom>
          <a:solidFill>
            <a:srgbClr val="A3B18A"/>
          </a:solidFill>
          <a:ln w="12700">
            <a:solidFill>
              <a:srgbClr val="C3CBB5"/>
            </a:solidFill>
            <a:prstDash val="solid"/>
          </a:ln>
        </p:spPr>
      </p:sp>
      <p:sp>
        <p:nvSpPr>
          <p:cNvPr id="38" name="Text 36"/>
          <p:cNvSpPr/>
          <p:nvPr/>
        </p:nvSpPr>
        <p:spPr>
          <a:xfrm>
            <a:off x="777240" y="4956048"/>
            <a:ext cx="3657600" cy="256032"/>
          </a:xfrm>
          <a:prstGeom prst="rect">
            <a:avLst/>
          </a:prstGeom>
          <a:noFill/>
          <a:ln/>
        </p:spPr>
        <p:txBody>
          <a:bodyPr wrap="square" rtlCol="0" anchor="ctr"/>
          <a:lstStyle/>
          <a:p>
            <a:pPr indent="0" marL="0">
              <a:buNone/>
            </a:pPr>
            <a:r>
              <a:rPr lang="en-US" sz="1200" b="1" dirty="0">
                <a:solidFill>
                  <a:srgbClr val="344E41"/>
                </a:solidFill>
                <a:latin typeface="Calibri" pitchFamily="34" charset="0"/>
                <a:ea typeface="Calibri" pitchFamily="34" charset="-122"/>
                <a:cs typeface="Calibri" pitchFamily="34" charset="-120"/>
              </a:rPr>
              <a:t>Why this matters</a:t>
            </a:r>
            <a:endParaRPr lang="en-US" sz="1200" dirty="0"/>
          </a:p>
        </p:txBody>
      </p:sp>
      <p:sp>
        <p:nvSpPr>
          <p:cNvPr id="39" name="Text 37"/>
          <p:cNvSpPr/>
          <p:nvPr/>
        </p:nvSpPr>
        <p:spPr>
          <a:xfrm>
            <a:off x="777240" y="5230368"/>
            <a:ext cx="5303520" cy="822960"/>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The environment can be destroyed after a demonstration and rebuilt identically in one command. Nothing depends on remembering which buttons were pressed, and the architecture is reviewable in version control like any other code.</a:t>
            </a:r>
            <a:endParaRPr lang="en-US" sz="1050" dirty="0"/>
          </a:p>
        </p:txBody>
      </p:sp>
      <p:sp>
        <p:nvSpPr>
          <p:cNvPr id="40" name="Text 38"/>
          <p:cNvSpPr/>
          <p:nvPr/>
        </p:nvSpPr>
        <p:spPr>
          <a:xfrm>
            <a:off x="6537960" y="5440680"/>
            <a:ext cx="5074920" cy="731520"/>
          </a:xfrm>
          <a:prstGeom prst="rect">
            <a:avLst/>
          </a:prstGeom>
          <a:noFill/>
          <a:ln/>
        </p:spPr>
        <p:txBody>
          <a:bodyPr wrap="square" rtlCol="0" anchor="ctr"/>
          <a:lstStyle/>
          <a:p>
            <a:pPr indent="0" marL="0">
              <a:lnSpc>
                <a:spcPts val="1400"/>
              </a:lnSpc>
              <a:buNone/>
            </a:pPr>
            <a:r>
              <a:rPr lang="en-US" sz="1050" i="1" dirty="0">
                <a:solidFill>
                  <a:srgbClr val="5E7262"/>
                </a:solidFill>
                <a:latin typeface="Calibri" pitchFamily="34" charset="0"/>
                <a:ea typeface="Calibri" pitchFamily="34" charset="-122"/>
                <a:cs typeface="Calibri" pitchFamily="34" charset="-120"/>
              </a:rPr>
              <a:t>All seven Bicep files compile to a valid ARM template with no errors or warnings; the shell scripts pass shellcheck and the cloud-init document parses as valid YAML.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10</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Database Migration Strategy</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Local MySQL to Azure Database for MySQL, without touching a single query</a:t>
            </a:r>
            <a:endParaRPr lang="en-US" sz="1250" dirty="0"/>
          </a:p>
        </p:txBody>
      </p:sp>
      <p:sp>
        <p:nvSpPr>
          <p:cNvPr id="8" name="Shape 6"/>
          <p:cNvSpPr/>
          <p:nvPr/>
        </p:nvSpPr>
        <p:spPr>
          <a:xfrm>
            <a:off x="566928" y="1517904"/>
            <a:ext cx="420624" cy="420624"/>
          </a:xfrm>
          <a:prstGeom prst="ellipse">
            <a:avLst/>
          </a:prstGeom>
          <a:solidFill>
            <a:srgbClr val="3A5A40"/>
          </a:solidFill>
          <a:ln/>
        </p:spPr>
      </p:sp>
      <p:sp>
        <p:nvSpPr>
          <p:cNvPr id="9" name="Text 7"/>
          <p:cNvSpPr/>
          <p:nvPr/>
        </p:nvSpPr>
        <p:spPr>
          <a:xfrm>
            <a:off x="566928" y="1581912"/>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43000" y="1499616"/>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Export</a:t>
            </a:r>
            <a:endParaRPr lang="en-US" sz="1250" dirty="0"/>
          </a:p>
        </p:txBody>
      </p:sp>
      <p:sp>
        <p:nvSpPr>
          <p:cNvPr id="11" name="Text 9"/>
          <p:cNvSpPr/>
          <p:nvPr/>
        </p:nvSpPr>
        <p:spPr>
          <a:xfrm>
            <a:off x="2697480" y="1490472"/>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Dump schema and data with mysqldump: six tables, three views, two triggers and one stored procedure in a single file.</a:t>
            </a:r>
            <a:endParaRPr lang="en-US" sz="1050" dirty="0"/>
          </a:p>
        </p:txBody>
      </p:sp>
      <p:sp>
        <p:nvSpPr>
          <p:cNvPr id="12" name="Shape 10"/>
          <p:cNvSpPr/>
          <p:nvPr/>
        </p:nvSpPr>
        <p:spPr>
          <a:xfrm>
            <a:off x="566928" y="2276856"/>
            <a:ext cx="420624" cy="420624"/>
          </a:xfrm>
          <a:prstGeom prst="ellipse">
            <a:avLst/>
          </a:prstGeom>
          <a:solidFill>
            <a:srgbClr val="3A5A40"/>
          </a:solidFill>
          <a:ln/>
        </p:spPr>
      </p:sp>
      <p:sp>
        <p:nvSpPr>
          <p:cNvPr id="13" name="Text 11"/>
          <p:cNvSpPr/>
          <p:nvPr/>
        </p:nvSpPr>
        <p:spPr>
          <a:xfrm>
            <a:off x="566928" y="2340864"/>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143000" y="2258568"/>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Provision</a:t>
            </a:r>
            <a:endParaRPr lang="en-US" sz="1250" dirty="0"/>
          </a:p>
        </p:txBody>
      </p:sp>
      <p:sp>
        <p:nvSpPr>
          <p:cNvPr id="15" name="Text 13"/>
          <p:cNvSpPr/>
          <p:nvPr/>
        </p:nvSpPr>
        <p:spPr>
          <a:xfrm>
            <a:off x="2697480" y="2249424"/>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Create the Flexible Server inside the delegated data subnet, with a private DNS zone so it has no public endpoint.</a:t>
            </a:r>
            <a:endParaRPr lang="en-US" sz="1050" dirty="0"/>
          </a:p>
        </p:txBody>
      </p:sp>
      <p:sp>
        <p:nvSpPr>
          <p:cNvPr id="16" name="Shape 14"/>
          <p:cNvSpPr/>
          <p:nvPr/>
        </p:nvSpPr>
        <p:spPr>
          <a:xfrm>
            <a:off x="566928" y="3035808"/>
            <a:ext cx="420624" cy="420624"/>
          </a:xfrm>
          <a:prstGeom prst="ellipse">
            <a:avLst/>
          </a:prstGeom>
          <a:solidFill>
            <a:srgbClr val="3A5A40"/>
          </a:solidFill>
          <a:ln/>
        </p:spPr>
      </p:sp>
      <p:sp>
        <p:nvSpPr>
          <p:cNvPr id="17" name="Text 15"/>
          <p:cNvSpPr/>
          <p:nvPr/>
        </p:nvSpPr>
        <p:spPr>
          <a:xfrm>
            <a:off x="566928" y="3099816"/>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43000" y="3017520"/>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Configure</a:t>
            </a:r>
            <a:endParaRPr lang="en-US" sz="1250" dirty="0"/>
          </a:p>
        </p:txBody>
      </p:sp>
      <p:sp>
        <p:nvSpPr>
          <p:cNvPr id="19" name="Text 17"/>
          <p:cNvSpPr/>
          <p:nvPr/>
        </p:nvSpPr>
        <p:spPr>
          <a:xfrm>
            <a:off x="2697480" y="3008376"/>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Set log_bin_trust_function_creators to ON, so the triggers and stored procedure can be created without SUPER privilege.</a:t>
            </a:r>
            <a:endParaRPr lang="en-US" sz="1050" dirty="0"/>
          </a:p>
        </p:txBody>
      </p:sp>
      <p:sp>
        <p:nvSpPr>
          <p:cNvPr id="20" name="Shape 18"/>
          <p:cNvSpPr/>
          <p:nvPr/>
        </p:nvSpPr>
        <p:spPr>
          <a:xfrm>
            <a:off x="566928" y="3794760"/>
            <a:ext cx="420624" cy="420624"/>
          </a:xfrm>
          <a:prstGeom prst="ellipse">
            <a:avLst/>
          </a:prstGeom>
          <a:solidFill>
            <a:srgbClr val="3A5A40"/>
          </a:solidFill>
          <a:ln/>
        </p:spPr>
      </p:sp>
      <p:sp>
        <p:nvSpPr>
          <p:cNvPr id="21" name="Text 19"/>
          <p:cNvSpPr/>
          <p:nvPr/>
        </p:nvSpPr>
        <p:spPr>
          <a:xfrm>
            <a:off x="566928" y="3858768"/>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43000" y="3776472"/>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Import</a:t>
            </a:r>
            <a:endParaRPr lang="en-US" sz="1250" dirty="0"/>
          </a:p>
        </p:txBody>
      </p:sp>
      <p:sp>
        <p:nvSpPr>
          <p:cNvPr id="23" name="Text 21"/>
          <p:cNvSpPr/>
          <p:nvPr/>
        </p:nvSpPr>
        <p:spPr>
          <a:xfrm>
            <a:off x="2697480" y="3767328"/>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Load the dump from inside the VNet. The schema transfers unchanged because the service runs genuine MySQL 8.0.</a:t>
            </a:r>
            <a:endParaRPr lang="en-US" sz="1050" dirty="0"/>
          </a:p>
        </p:txBody>
      </p:sp>
      <p:sp>
        <p:nvSpPr>
          <p:cNvPr id="24" name="Shape 22"/>
          <p:cNvSpPr/>
          <p:nvPr/>
        </p:nvSpPr>
        <p:spPr>
          <a:xfrm>
            <a:off x="566928" y="4553712"/>
            <a:ext cx="420624" cy="420624"/>
          </a:xfrm>
          <a:prstGeom prst="ellipse">
            <a:avLst/>
          </a:prstGeom>
          <a:solidFill>
            <a:srgbClr val="3A5A40"/>
          </a:solidFill>
          <a:ln/>
        </p:spPr>
      </p:sp>
      <p:sp>
        <p:nvSpPr>
          <p:cNvPr id="25" name="Text 23"/>
          <p:cNvSpPr/>
          <p:nvPr/>
        </p:nvSpPr>
        <p:spPr>
          <a:xfrm>
            <a:off x="566928" y="4617720"/>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1143000" y="4535424"/>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Repoint</a:t>
            </a:r>
            <a:endParaRPr lang="en-US" sz="1250" dirty="0"/>
          </a:p>
        </p:txBody>
      </p:sp>
      <p:sp>
        <p:nvSpPr>
          <p:cNvPr id="27" name="Text 25"/>
          <p:cNvSpPr/>
          <p:nvPr/>
        </p:nvSpPr>
        <p:spPr>
          <a:xfrm>
            <a:off x="2697480" y="4526280"/>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db_config.py is written at boot from Key Vault, pointing at the Azure hostname. No application code changes.</a:t>
            </a:r>
            <a:endParaRPr lang="en-US" sz="1050" dirty="0"/>
          </a:p>
        </p:txBody>
      </p:sp>
      <p:sp>
        <p:nvSpPr>
          <p:cNvPr id="28" name="Shape 26"/>
          <p:cNvSpPr/>
          <p:nvPr/>
        </p:nvSpPr>
        <p:spPr>
          <a:xfrm>
            <a:off x="566928" y="5312664"/>
            <a:ext cx="420624" cy="420624"/>
          </a:xfrm>
          <a:prstGeom prst="ellipse">
            <a:avLst/>
          </a:prstGeom>
          <a:solidFill>
            <a:srgbClr val="3A5A40"/>
          </a:solidFill>
          <a:ln/>
        </p:spPr>
      </p:sp>
      <p:sp>
        <p:nvSpPr>
          <p:cNvPr id="29" name="Text 27"/>
          <p:cNvSpPr/>
          <p:nvPr/>
        </p:nvSpPr>
        <p:spPr>
          <a:xfrm>
            <a:off x="566928" y="5376672"/>
            <a:ext cx="420624" cy="292608"/>
          </a:xfrm>
          <a:prstGeom prst="rect">
            <a:avLst/>
          </a:prstGeom>
          <a:noFill/>
          <a:ln/>
        </p:spPr>
        <p:txBody>
          <a:bodyPr wrap="square" rtlCol="0" anchor="ctr"/>
          <a:lstStyle/>
          <a:p>
            <a:pPr algn="ctr" indent="0" marL="0">
              <a:buNone/>
            </a:pPr>
            <a:r>
              <a:rPr lang="en-US" sz="1200" b="1" dirty="0">
                <a:solidFill>
                  <a:srgbClr val="DAD7CD"/>
                </a:solidFill>
                <a:latin typeface="Calibri" pitchFamily="34" charset="0"/>
                <a:ea typeface="Calibri" pitchFamily="34" charset="-122"/>
                <a:cs typeface="Calibri" pitchFamily="34" charset="-120"/>
              </a:rPr>
              <a:t>6</a:t>
            </a:r>
            <a:endParaRPr lang="en-US" sz="1200" dirty="0"/>
          </a:p>
        </p:txBody>
      </p:sp>
      <p:sp>
        <p:nvSpPr>
          <p:cNvPr id="30" name="Text 28"/>
          <p:cNvSpPr/>
          <p:nvPr/>
        </p:nvSpPr>
        <p:spPr>
          <a:xfrm>
            <a:off x="1143000" y="5294376"/>
            <a:ext cx="146304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Verify</a:t>
            </a:r>
            <a:endParaRPr lang="en-US" sz="1250" dirty="0"/>
          </a:p>
        </p:txBody>
      </p:sp>
      <p:sp>
        <p:nvSpPr>
          <p:cNvPr id="31" name="Text 29"/>
          <p:cNvSpPr/>
          <p:nvPr/>
        </p:nvSpPr>
        <p:spPr>
          <a:xfrm>
            <a:off x="2697480" y="5285232"/>
            <a:ext cx="5394960" cy="658368"/>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Re-run the CRUD operations and the four reports, and compare row counts against the source database.</a:t>
            </a:r>
            <a:endParaRPr lang="en-US" sz="1050" dirty="0"/>
          </a:p>
        </p:txBody>
      </p:sp>
      <p:sp>
        <p:nvSpPr>
          <p:cNvPr id="32" name="Shape 30"/>
          <p:cNvSpPr/>
          <p:nvPr/>
        </p:nvSpPr>
        <p:spPr>
          <a:xfrm>
            <a:off x="8412480" y="1463040"/>
            <a:ext cx="3200400" cy="4343400"/>
          </a:xfrm>
          <a:prstGeom prst="roundRect">
            <a:avLst>
              <a:gd name="adj" fmla="val 1429"/>
            </a:avLst>
          </a:prstGeom>
          <a:solidFill>
            <a:srgbClr val="FFFFFF"/>
          </a:solidFill>
          <a:ln w="12700">
            <a:solidFill>
              <a:srgbClr val="C3CBB5"/>
            </a:solidFill>
            <a:prstDash val="solid"/>
          </a:ln>
        </p:spPr>
      </p:sp>
      <p:sp>
        <p:nvSpPr>
          <p:cNvPr id="33" name="Text 31"/>
          <p:cNvSpPr/>
          <p:nvPr/>
        </p:nvSpPr>
        <p:spPr>
          <a:xfrm>
            <a:off x="8641080" y="1600200"/>
            <a:ext cx="2743200" cy="457200"/>
          </a:xfrm>
          <a:prstGeom prst="rect">
            <a:avLst/>
          </a:prstGeom>
          <a:noFill/>
          <a:ln/>
        </p:spPr>
        <p:txBody>
          <a:bodyPr wrap="square" rtlCol="0" anchor="ctr"/>
          <a:lstStyle/>
          <a:p>
            <a:pPr indent="0" marL="0">
              <a:buNone/>
            </a:pPr>
            <a:r>
              <a:rPr lang="en-US" sz="1200" b="1" dirty="0">
                <a:solidFill>
                  <a:srgbClr val="588157"/>
                </a:solidFill>
                <a:latin typeface="Calibri" pitchFamily="34" charset="0"/>
                <a:ea typeface="Calibri" pitchFamily="34" charset="-122"/>
                <a:cs typeface="Calibri" pitchFamily="34" charset="-120"/>
              </a:rPr>
              <a:t>Step 3 is the one that catches people</a:t>
            </a:r>
            <a:endParaRPr lang="en-US" sz="1200" dirty="0"/>
          </a:p>
        </p:txBody>
      </p:sp>
      <p:sp>
        <p:nvSpPr>
          <p:cNvPr id="34" name="Text 32"/>
          <p:cNvSpPr/>
          <p:nvPr/>
        </p:nvSpPr>
        <p:spPr>
          <a:xfrm>
            <a:off x="8641080" y="2103120"/>
            <a:ext cx="2788920" cy="3566160"/>
          </a:xfrm>
          <a:prstGeom prst="rect">
            <a:avLst/>
          </a:prstGeom>
          <a:noFill/>
          <a:ln/>
        </p:spPr>
        <p:txBody>
          <a:bodyPr wrap="square" rtlCol="0" anchor="ctr"/>
          <a:lstStyle/>
          <a:p>
            <a:pPr indent="0" marL="0">
              <a:lnSpc>
                <a:spcPts val="1450"/>
              </a:lnSpc>
              <a:buNone/>
            </a:pPr>
            <a:r>
              <a:rPr lang="en-US" sz="1050" dirty="0">
                <a:solidFill>
                  <a:srgbClr val="344E41"/>
                </a:solidFill>
                <a:latin typeface="Calibri" pitchFamily="34" charset="0"/>
                <a:ea typeface="Calibri" pitchFamily="34" charset="-122"/>
                <a:cs typeface="Calibri" pitchFamily="34" charset="-120"/>
              </a:rPr>
              <a:t>Azure enables binary logging by default. With it on, creating a trigger or stored procedure needs a privilege the administrator account does not have, and the import fails partway through.</a:t>
            </a:r>
            <a:endParaRPr lang="en-US" sz="1050" dirty="0"/>
          </a:p>
          <a:p>
            <a:pPr indent="0" marL="0">
              <a:lnSpc>
                <a:spcPts val="1450"/>
              </a:lnSpc>
              <a:buNone/>
            </a:pPr>
            <a:endParaRPr lang="en-US" sz="1050" dirty="0"/>
          </a:p>
          <a:p>
            <a:pPr indent="0" marL="0">
              <a:lnSpc>
                <a:spcPts val="1450"/>
              </a:lnSpc>
              <a:buNone/>
            </a:pPr>
            <a:r>
              <a:rPr lang="en-US" sz="1050" dirty="0">
                <a:solidFill>
                  <a:srgbClr val="344E41"/>
                </a:solidFill>
                <a:latin typeface="Calibri" pitchFamily="34" charset="0"/>
                <a:ea typeface="Calibri" pitchFamily="34" charset="-122"/>
                <a:cs typeface="Calibri" pitchFamily="34" charset="-120"/>
              </a:rPr>
              <a:t>Setting that one server parameter first is the difference between a clean import and a confusing error.</a:t>
            </a:r>
            <a:endParaRPr lang="en-US" sz="1050" dirty="0"/>
          </a:p>
          <a:p>
            <a:pPr indent="0" marL="0">
              <a:lnSpc>
                <a:spcPts val="1450"/>
              </a:lnSpc>
              <a:buNone/>
            </a:pPr>
            <a:endParaRPr lang="en-US" sz="1050" dirty="0"/>
          </a:p>
          <a:p>
            <a:pPr indent="0" marL="0">
              <a:lnSpc>
                <a:spcPts val="1450"/>
              </a:lnSpc>
              <a:buNone/>
            </a:pPr>
            <a:r>
              <a:rPr lang="en-US" sz="1050" dirty="0">
                <a:solidFill>
                  <a:srgbClr val="344E41"/>
                </a:solidFill>
                <a:latin typeface="Calibri" pitchFamily="34" charset="0"/>
                <a:ea typeface="Calibri" pitchFamily="34" charset="-122"/>
                <a:cs typeface="Calibri" pitchFamily="34" charset="-120"/>
              </a:rPr>
              <a:t>It is declared in database.bicep, so it is applied before anyone tries the import.</a:t>
            </a:r>
            <a:endParaRPr lang="en-US" sz="1050" dirty="0"/>
          </a:p>
        </p:txBody>
      </p:sp>
      <p:sp>
        <p:nvSpPr>
          <p:cNvPr id="35" name="Text 33"/>
          <p:cNvSpPr/>
          <p:nvPr/>
        </p:nvSpPr>
        <p:spPr>
          <a:xfrm>
            <a:off x="548640" y="5943600"/>
            <a:ext cx="7680960" cy="347472"/>
          </a:xfrm>
          <a:prstGeom prst="rect">
            <a:avLst/>
          </a:prstGeom>
          <a:noFill/>
          <a:ln/>
        </p:spPr>
        <p:txBody>
          <a:bodyPr wrap="square" rtlCol="0" anchor="ctr"/>
          <a:lstStyle/>
          <a:p>
            <a:pPr indent="0" marL="0">
              <a:buNone/>
            </a:pPr>
            <a:r>
              <a:rPr lang="en-US" sz="1100" i="1" dirty="0">
                <a:solidFill>
                  <a:srgbClr val="3A5A40"/>
                </a:solidFill>
                <a:latin typeface="Calibri" pitchFamily="34" charset="0"/>
                <a:ea typeface="Calibri" pitchFamily="34" charset="-122"/>
                <a:cs typeface="Calibri" pitchFamily="34" charset="-120"/>
              </a:rPr>
              <a:t>Because every SQL statement lives in database.py and every credential in db_config.py, moving the database is a configuration change rather than a code change.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11</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Scalability and Elasticity</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How the deployment copes with a busy season</a:t>
            </a:r>
            <a:endParaRPr lang="en-US" sz="1250" dirty="0"/>
          </a:p>
        </p:txBody>
      </p:sp>
      <p:sp>
        <p:nvSpPr>
          <p:cNvPr id="8" name="Shape 6"/>
          <p:cNvSpPr/>
          <p:nvPr/>
        </p:nvSpPr>
        <p:spPr>
          <a:xfrm>
            <a:off x="548640" y="1463040"/>
            <a:ext cx="5349240" cy="1874520"/>
          </a:xfrm>
          <a:prstGeom prst="roundRect">
            <a:avLst>
              <a:gd name="adj" fmla="val 2439"/>
            </a:avLst>
          </a:prstGeom>
          <a:solidFill>
            <a:srgbClr val="FFFFFF"/>
          </a:solidFill>
          <a:ln w="12700">
            <a:solidFill>
              <a:srgbClr val="C3CBB5"/>
            </a:solidFill>
            <a:prstDash val="solid"/>
          </a:ln>
        </p:spPr>
      </p:sp>
      <p:sp>
        <p:nvSpPr>
          <p:cNvPr id="9" name="Text 7"/>
          <p:cNvSpPr/>
          <p:nvPr/>
        </p:nvSpPr>
        <p:spPr>
          <a:xfrm>
            <a:off x="804672" y="1572768"/>
            <a:ext cx="484632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Vertical scaling  (scale up)</a:t>
            </a:r>
            <a:endParaRPr lang="en-US" sz="1350" dirty="0"/>
          </a:p>
        </p:txBody>
      </p:sp>
      <p:sp>
        <p:nvSpPr>
          <p:cNvPr id="10" name="Text 8"/>
          <p:cNvSpPr/>
          <p:nvPr/>
        </p:nvSpPr>
        <p:spPr>
          <a:xfrm>
            <a:off x="804672" y="1883664"/>
            <a:ext cx="4846320" cy="713232"/>
          </a:xfrm>
          <a:prstGeom prst="rect">
            <a:avLst/>
          </a:prstGeom>
          <a:noFill/>
          <a:ln/>
        </p:spPr>
        <p:txBody>
          <a:bodyPr wrap="square" rtlCol="0" anchor="ctr"/>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Give the existing machine more CPU or memory. Simple, but there is a ceiling and the machine usually restarts.</a:t>
            </a:r>
            <a:endParaRPr lang="en-US" sz="1100" dirty="0"/>
          </a:p>
        </p:txBody>
      </p:sp>
      <p:sp>
        <p:nvSpPr>
          <p:cNvPr id="11" name="Text 9"/>
          <p:cNvSpPr/>
          <p:nvPr/>
        </p:nvSpPr>
        <p:spPr>
          <a:xfrm>
            <a:off x="804672" y="2670048"/>
            <a:ext cx="4846320" cy="548640"/>
          </a:xfrm>
          <a:prstGeom prst="rect">
            <a:avLst/>
          </a:prstGeom>
          <a:noFill/>
          <a:ln/>
        </p:spPr>
        <p:txBody>
          <a:bodyPr wrap="square" rtlCol="0" anchor="ctr"/>
          <a:lstStyle/>
          <a:p>
            <a:pPr indent="0" marL="0">
              <a:lnSpc>
                <a:spcPts val="1400"/>
              </a:lnSpc>
              <a:buNone/>
            </a:pPr>
            <a:r>
              <a:rPr lang="en-US" sz="1050" i="1" dirty="0">
                <a:solidFill>
                  <a:srgbClr val="588157"/>
                </a:solidFill>
                <a:latin typeface="Calibri" pitchFamily="34" charset="0"/>
                <a:ea typeface="Calibri" pitchFamily="34" charset="-122"/>
                <a:cs typeface="Calibri" pitchFamily="34" charset="-120"/>
              </a:rPr>
              <a:t>Used for the database: the server can be resized to a larger tier if queries slow down.</a:t>
            </a:r>
            <a:endParaRPr lang="en-US" sz="1050" dirty="0"/>
          </a:p>
        </p:txBody>
      </p:sp>
      <p:sp>
        <p:nvSpPr>
          <p:cNvPr id="12" name="Shape 10"/>
          <p:cNvSpPr/>
          <p:nvPr/>
        </p:nvSpPr>
        <p:spPr>
          <a:xfrm>
            <a:off x="6263640" y="1463040"/>
            <a:ext cx="5349240" cy="1874520"/>
          </a:xfrm>
          <a:prstGeom prst="roundRect">
            <a:avLst>
              <a:gd name="adj" fmla="val 2439"/>
            </a:avLst>
          </a:prstGeom>
          <a:solidFill>
            <a:srgbClr val="FFFFFF"/>
          </a:solidFill>
          <a:ln w="12700">
            <a:solidFill>
              <a:srgbClr val="C3CBB5"/>
            </a:solidFill>
            <a:prstDash val="solid"/>
          </a:ln>
        </p:spPr>
      </p:sp>
      <p:sp>
        <p:nvSpPr>
          <p:cNvPr id="13" name="Text 11"/>
          <p:cNvSpPr/>
          <p:nvPr/>
        </p:nvSpPr>
        <p:spPr>
          <a:xfrm>
            <a:off x="6519672" y="1572768"/>
            <a:ext cx="484632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Horizontal scaling  (scale out)</a:t>
            </a:r>
            <a:endParaRPr lang="en-US" sz="1350" dirty="0"/>
          </a:p>
        </p:txBody>
      </p:sp>
      <p:sp>
        <p:nvSpPr>
          <p:cNvPr id="14" name="Text 12"/>
          <p:cNvSpPr/>
          <p:nvPr/>
        </p:nvSpPr>
        <p:spPr>
          <a:xfrm>
            <a:off x="6519672" y="1883664"/>
            <a:ext cx="4846320" cy="713232"/>
          </a:xfrm>
          <a:prstGeom prst="rect">
            <a:avLst/>
          </a:prstGeom>
          <a:noFill/>
          <a:ln/>
        </p:spPr>
        <p:txBody>
          <a:bodyPr wrap="square" rtlCol="0" anchor="ctr"/>
          <a:lstStyle/>
          <a:p>
            <a:pPr indent="0" marL="0">
              <a:lnSpc>
                <a:spcPts val="1450"/>
              </a:lnSpc>
              <a:buNone/>
            </a:pPr>
            <a:r>
              <a:rPr lang="en-US" sz="1100" dirty="0">
                <a:solidFill>
                  <a:srgbClr val="344E41"/>
                </a:solidFill>
                <a:latin typeface="Calibri" pitchFamily="34" charset="0"/>
                <a:ea typeface="Calibri" pitchFamily="34" charset="-122"/>
                <a:cs typeface="Calibri" pitchFamily="34" charset="-120"/>
              </a:rPr>
              <a:t>Add more machines and share the load between them. No practical ceiling, and instances join while the system runs.</a:t>
            </a:r>
            <a:endParaRPr lang="en-US" sz="1100" dirty="0"/>
          </a:p>
        </p:txBody>
      </p:sp>
      <p:sp>
        <p:nvSpPr>
          <p:cNvPr id="15" name="Text 13"/>
          <p:cNvSpPr/>
          <p:nvPr/>
        </p:nvSpPr>
        <p:spPr>
          <a:xfrm>
            <a:off x="6519672" y="2670048"/>
            <a:ext cx="4846320" cy="548640"/>
          </a:xfrm>
          <a:prstGeom prst="rect">
            <a:avLst/>
          </a:prstGeom>
          <a:noFill/>
          <a:ln/>
        </p:spPr>
        <p:txBody>
          <a:bodyPr wrap="square" rtlCol="0" anchor="ctr"/>
          <a:lstStyle/>
          <a:p>
            <a:pPr indent="0" marL="0">
              <a:lnSpc>
                <a:spcPts val="1400"/>
              </a:lnSpc>
              <a:buNone/>
            </a:pPr>
            <a:r>
              <a:rPr lang="en-US" sz="1050" i="1" dirty="0">
                <a:solidFill>
                  <a:srgbClr val="588157"/>
                </a:solidFill>
                <a:latin typeface="Calibri" pitchFamily="34" charset="0"/>
                <a:ea typeface="Calibri" pitchFamily="34" charset="-122"/>
                <a:cs typeface="Calibri" pitchFamily="34" charset="-120"/>
              </a:rPr>
              <a:t>Used for the application tier: the scale set adds instances automatically.</a:t>
            </a:r>
            <a:endParaRPr lang="en-US" sz="1050" dirty="0"/>
          </a:p>
        </p:txBody>
      </p:sp>
      <p:sp>
        <p:nvSpPr>
          <p:cNvPr id="16" name="Text 14"/>
          <p:cNvSpPr/>
          <p:nvPr/>
        </p:nvSpPr>
        <p:spPr>
          <a:xfrm>
            <a:off x="548640" y="3520440"/>
            <a:ext cx="5486400" cy="274320"/>
          </a:xfrm>
          <a:prstGeom prst="rect">
            <a:avLst/>
          </a:prstGeom>
          <a:noFill/>
          <a:ln/>
        </p:spPr>
        <p:txBody>
          <a:bodyPr wrap="square" rtlCol="0" anchor="ctr"/>
          <a:lstStyle/>
          <a:p>
            <a:pPr indent="0" marL="0">
              <a:buNone/>
            </a:pPr>
            <a:r>
              <a:rPr lang="en-US" sz="1400" b="1" dirty="0">
                <a:solidFill>
                  <a:srgbClr val="344E41"/>
                </a:solidFill>
                <a:latin typeface="Calibri" pitchFamily="34" charset="0"/>
                <a:ea typeface="Calibri" pitchFamily="34" charset="-122"/>
                <a:cs typeface="Calibri" pitchFamily="34" charset="-120"/>
              </a:rPr>
              <a:t>The autoscale rules, as deployed</a:t>
            </a:r>
            <a:endParaRPr lang="en-US" sz="1400" dirty="0"/>
          </a:p>
        </p:txBody>
      </p:sp>
      <p:sp>
        <p:nvSpPr>
          <p:cNvPr id="17" name="Shape 15"/>
          <p:cNvSpPr/>
          <p:nvPr/>
        </p:nvSpPr>
        <p:spPr>
          <a:xfrm>
            <a:off x="548640" y="3886200"/>
            <a:ext cx="11064240" cy="374904"/>
          </a:xfrm>
          <a:prstGeom prst="roundRect">
            <a:avLst>
              <a:gd name="adj" fmla="val 9756"/>
            </a:avLst>
          </a:prstGeom>
          <a:solidFill>
            <a:srgbClr val="EDEFE4"/>
          </a:solidFill>
          <a:ln w="9525">
            <a:solidFill>
              <a:srgbClr val="C3CBB5"/>
            </a:solidFill>
            <a:prstDash val="solid"/>
          </a:ln>
        </p:spPr>
      </p:sp>
      <p:sp>
        <p:nvSpPr>
          <p:cNvPr id="18" name="Text 16"/>
          <p:cNvSpPr/>
          <p:nvPr/>
        </p:nvSpPr>
        <p:spPr>
          <a:xfrm>
            <a:off x="694944" y="3931920"/>
            <a:ext cx="3657600" cy="283464"/>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Normal load</a:t>
            </a:r>
            <a:endParaRPr lang="en-US" sz="1100" dirty="0"/>
          </a:p>
        </p:txBody>
      </p:sp>
      <p:sp>
        <p:nvSpPr>
          <p:cNvPr id="19" name="Text 17"/>
          <p:cNvSpPr/>
          <p:nvPr/>
        </p:nvSpPr>
        <p:spPr>
          <a:xfrm>
            <a:off x="4462272" y="3931920"/>
            <a:ext cx="6986016" cy="283464"/>
          </a:xfrm>
          <a:prstGeom prst="rect">
            <a:avLst/>
          </a:prstGeom>
          <a:noFill/>
          <a:ln/>
        </p:spPr>
        <p:txBody>
          <a:bodyPr wrap="square" rtlCol="0" anchor="ctr"/>
          <a:lstStyle/>
          <a:p>
            <a:pPr indent="0" marL="0">
              <a:buNone/>
            </a:pPr>
            <a:r>
              <a:rPr lang="en-US" sz="1100" dirty="0">
                <a:solidFill>
                  <a:srgbClr val="344E41"/>
                </a:solidFill>
                <a:latin typeface="Calibri" pitchFamily="34" charset="0"/>
                <a:ea typeface="Calibri" pitchFamily="34" charset="-122"/>
                <a:cs typeface="Calibri" pitchFamily="34" charset="-120"/>
              </a:rPr>
              <a:t>Two instances, one in each Availability Zone</a:t>
            </a:r>
            <a:endParaRPr lang="en-US" sz="1100" dirty="0"/>
          </a:p>
        </p:txBody>
      </p:sp>
      <p:sp>
        <p:nvSpPr>
          <p:cNvPr id="20" name="Shape 18"/>
          <p:cNvSpPr/>
          <p:nvPr/>
        </p:nvSpPr>
        <p:spPr>
          <a:xfrm>
            <a:off x="548640" y="4325112"/>
            <a:ext cx="11064240" cy="374904"/>
          </a:xfrm>
          <a:prstGeom prst="roundRect">
            <a:avLst>
              <a:gd name="adj" fmla="val 9756"/>
            </a:avLst>
          </a:prstGeom>
          <a:solidFill>
            <a:srgbClr val="FFFFFF"/>
          </a:solidFill>
          <a:ln w="9525">
            <a:solidFill>
              <a:srgbClr val="C3CBB5"/>
            </a:solidFill>
            <a:prstDash val="solid"/>
          </a:ln>
        </p:spPr>
      </p:sp>
      <p:sp>
        <p:nvSpPr>
          <p:cNvPr id="21" name="Text 19"/>
          <p:cNvSpPr/>
          <p:nvPr/>
        </p:nvSpPr>
        <p:spPr>
          <a:xfrm>
            <a:off x="694944" y="4370832"/>
            <a:ext cx="3657600" cy="283464"/>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Average CPU above 70% for 5 minutes</a:t>
            </a:r>
            <a:endParaRPr lang="en-US" sz="1100" dirty="0"/>
          </a:p>
        </p:txBody>
      </p:sp>
      <p:sp>
        <p:nvSpPr>
          <p:cNvPr id="22" name="Text 20"/>
          <p:cNvSpPr/>
          <p:nvPr/>
        </p:nvSpPr>
        <p:spPr>
          <a:xfrm>
            <a:off x="4462272" y="4370832"/>
            <a:ext cx="6986016" cy="283464"/>
          </a:xfrm>
          <a:prstGeom prst="rect">
            <a:avLst/>
          </a:prstGeom>
          <a:noFill/>
          <a:ln/>
        </p:spPr>
        <p:txBody>
          <a:bodyPr wrap="square" rtlCol="0" anchor="ctr"/>
          <a:lstStyle/>
          <a:p>
            <a:pPr indent="0" marL="0">
              <a:buNone/>
            </a:pPr>
            <a:r>
              <a:rPr lang="en-US" sz="1100" dirty="0">
                <a:solidFill>
                  <a:srgbClr val="344E41"/>
                </a:solidFill>
                <a:latin typeface="Calibri" pitchFamily="34" charset="0"/>
                <a:ea typeface="Calibri" pitchFamily="34" charset="-122"/>
                <a:cs typeface="Calibri" pitchFamily="34" charset="-120"/>
              </a:rPr>
              <a:t>One instance added, up to a maximum of six</a:t>
            </a:r>
            <a:endParaRPr lang="en-US" sz="1100" dirty="0"/>
          </a:p>
        </p:txBody>
      </p:sp>
      <p:sp>
        <p:nvSpPr>
          <p:cNvPr id="23" name="Shape 21"/>
          <p:cNvSpPr/>
          <p:nvPr/>
        </p:nvSpPr>
        <p:spPr>
          <a:xfrm>
            <a:off x="548640" y="4764024"/>
            <a:ext cx="11064240" cy="374904"/>
          </a:xfrm>
          <a:prstGeom prst="roundRect">
            <a:avLst>
              <a:gd name="adj" fmla="val 9756"/>
            </a:avLst>
          </a:prstGeom>
          <a:solidFill>
            <a:srgbClr val="EDEFE4"/>
          </a:solidFill>
          <a:ln w="9525">
            <a:solidFill>
              <a:srgbClr val="C3CBB5"/>
            </a:solidFill>
            <a:prstDash val="solid"/>
          </a:ln>
        </p:spPr>
      </p:sp>
      <p:sp>
        <p:nvSpPr>
          <p:cNvPr id="24" name="Text 22"/>
          <p:cNvSpPr/>
          <p:nvPr/>
        </p:nvSpPr>
        <p:spPr>
          <a:xfrm>
            <a:off x="694944" y="4809744"/>
            <a:ext cx="3657600" cy="283464"/>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Average CPU below 30% for 10 minutes</a:t>
            </a:r>
            <a:endParaRPr lang="en-US" sz="1100" dirty="0"/>
          </a:p>
        </p:txBody>
      </p:sp>
      <p:sp>
        <p:nvSpPr>
          <p:cNvPr id="25" name="Text 23"/>
          <p:cNvSpPr/>
          <p:nvPr/>
        </p:nvSpPr>
        <p:spPr>
          <a:xfrm>
            <a:off x="4462272" y="4809744"/>
            <a:ext cx="6986016" cy="283464"/>
          </a:xfrm>
          <a:prstGeom prst="rect">
            <a:avLst/>
          </a:prstGeom>
          <a:noFill/>
          <a:ln/>
        </p:spPr>
        <p:txBody>
          <a:bodyPr wrap="square" rtlCol="0" anchor="ctr"/>
          <a:lstStyle/>
          <a:p>
            <a:pPr indent="0" marL="0">
              <a:buNone/>
            </a:pPr>
            <a:r>
              <a:rPr lang="en-US" sz="1100" dirty="0">
                <a:solidFill>
                  <a:srgbClr val="344E41"/>
                </a:solidFill>
                <a:latin typeface="Calibri" pitchFamily="34" charset="0"/>
                <a:ea typeface="Calibri" pitchFamily="34" charset="-122"/>
                <a:cs typeface="Calibri" pitchFamily="34" charset="-120"/>
              </a:rPr>
              <a:t>One instance removed, never below two</a:t>
            </a:r>
            <a:endParaRPr lang="en-US" sz="1100" dirty="0"/>
          </a:p>
        </p:txBody>
      </p:sp>
      <p:sp>
        <p:nvSpPr>
          <p:cNvPr id="26" name="Shape 24"/>
          <p:cNvSpPr/>
          <p:nvPr/>
        </p:nvSpPr>
        <p:spPr>
          <a:xfrm>
            <a:off x="548640" y="5202936"/>
            <a:ext cx="11064240" cy="374904"/>
          </a:xfrm>
          <a:prstGeom prst="roundRect">
            <a:avLst>
              <a:gd name="adj" fmla="val 9756"/>
            </a:avLst>
          </a:prstGeom>
          <a:solidFill>
            <a:srgbClr val="FFFFFF"/>
          </a:solidFill>
          <a:ln w="9525">
            <a:solidFill>
              <a:srgbClr val="C3CBB5"/>
            </a:solidFill>
            <a:prstDash val="solid"/>
          </a:ln>
        </p:spPr>
      </p:sp>
      <p:sp>
        <p:nvSpPr>
          <p:cNvPr id="27" name="Text 25"/>
          <p:cNvSpPr/>
          <p:nvPr/>
        </p:nvSpPr>
        <p:spPr>
          <a:xfrm>
            <a:off x="694944" y="5248656"/>
            <a:ext cx="3657600" cy="283464"/>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Instance fails its health probe</a:t>
            </a:r>
            <a:endParaRPr lang="en-US" sz="1100" dirty="0"/>
          </a:p>
        </p:txBody>
      </p:sp>
      <p:sp>
        <p:nvSpPr>
          <p:cNvPr id="28" name="Text 26"/>
          <p:cNvSpPr/>
          <p:nvPr/>
        </p:nvSpPr>
        <p:spPr>
          <a:xfrm>
            <a:off x="4462272" y="5248656"/>
            <a:ext cx="6986016" cy="283464"/>
          </a:xfrm>
          <a:prstGeom prst="rect">
            <a:avLst/>
          </a:prstGeom>
          <a:noFill/>
          <a:ln/>
        </p:spPr>
        <p:txBody>
          <a:bodyPr wrap="square" rtlCol="0" anchor="ctr"/>
          <a:lstStyle/>
          <a:p>
            <a:pPr indent="0" marL="0">
              <a:buNone/>
            </a:pPr>
            <a:r>
              <a:rPr lang="en-US" sz="1100" dirty="0">
                <a:solidFill>
                  <a:srgbClr val="344E41"/>
                </a:solidFill>
                <a:latin typeface="Calibri" pitchFamily="34" charset="0"/>
                <a:ea typeface="Calibri" pitchFamily="34" charset="-122"/>
                <a:cs typeface="Calibri" pitchFamily="34" charset="-120"/>
              </a:rPr>
              <a:t>Gateway stops routing to it; the scale set replaces it</a:t>
            </a:r>
            <a:endParaRPr lang="en-US" sz="1100" dirty="0"/>
          </a:p>
        </p:txBody>
      </p:sp>
      <p:sp>
        <p:nvSpPr>
          <p:cNvPr id="29" name="Shape 27"/>
          <p:cNvSpPr/>
          <p:nvPr/>
        </p:nvSpPr>
        <p:spPr>
          <a:xfrm>
            <a:off x="548640" y="5641848"/>
            <a:ext cx="11064240" cy="374904"/>
          </a:xfrm>
          <a:prstGeom prst="roundRect">
            <a:avLst>
              <a:gd name="adj" fmla="val 9756"/>
            </a:avLst>
          </a:prstGeom>
          <a:solidFill>
            <a:srgbClr val="EDEFE4"/>
          </a:solidFill>
          <a:ln w="9525">
            <a:solidFill>
              <a:srgbClr val="C3CBB5"/>
            </a:solidFill>
            <a:prstDash val="solid"/>
          </a:ln>
        </p:spPr>
      </p:sp>
      <p:sp>
        <p:nvSpPr>
          <p:cNvPr id="30" name="Text 28"/>
          <p:cNvSpPr/>
          <p:nvPr/>
        </p:nvSpPr>
        <p:spPr>
          <a:xfrm>
            <a:off x="694944" y="5687568"/>
            <a:ext cx="3657600" cy="283464"/>
          </a:xfrm>
          <a:prstGeom prst="rect">
            <a:avLst/>
          </a:prstGeom>
          <a:noFill/>
          <a:ln/>
        </p:spPr>
        <p:txBody>
          <a:bodyPr wrap="square" rtlCol="0" anchor="ctr"/>
          <a:lstStyle/>
          <a:p>
            <a:pPr indent="0" marL="0">
              <a:buNone/>
            </a:pPr>
            <a:r>
              <a:rPr lang="en-US" sz="1100" b="1" dirty="0">
                <a:solidFill>
                  <a:srgbClr val="344E41"/>
                </a:solidFill>
                <a:latin typeface="Calibri" pitchFamily="34" charset="0"/>
                <a:ea typeface="Calibri" pitchFamily="34" charset="-122"/>
                <a:cs typeface="Calibri" pitchFamily="34" charset="-120"/>
              </a:rPr>
              <a:t>Cooldown</a:t>
            </a:r>
            <a:endParaRPr lang="en-US" sz="1100" dirty="0"/>
          </a:p>
        </p:txBody>
      </p:sp>
      <p:sp>
        <p:nvSpPr>
          <p:cNvPr id="31" name="Text 29"/>
          <p:cNvSpPr/>
          <p:nvPr/>
        </p:nvSpPr>
        <p:spPr>
          <a:xfrm>
            <a:off x="4462272" y="5687568"/>
            <a:ext cx="6986016" cy="283464"/>
          </a:xfrm>
          <a:prstGeom prst="rect">
            <a:avLst/>
          </a:prstGeom>
          <a:noFill/>
          <a:ln/>
        </p:spPr>
        <p:txBody>
          <a:bodyPr wrap="square" rtlCol="0" anchor="ctr"/>
          <a:lstStyle/>
          <a:p>
            <a:pPr indent="0" marL="0">
              <a:buNone/>
            </a:pPr>
            <a:r>
              <a:rPr lang="en-US" sz="1100" dirty="0">
                <a:solidFill>
                  <a:srgbClr val="344E41"/>
                </a:solidFill>
                <a:latin typeface="Calibri" pitchFamily="34" charset="0"/>
                <a:ea typeface="Calibri" pitchFamily="34" charset="-122"/>
                <a:cs typeface="Calibri" pitchFamily="34" charset="-120"/>
              </a:rPr>
              <a:t>5 minutes after scaling out, 10 after scaling in, so one burst does not cause repeated scaling</a:t>
            </a:r>
            <a:endParaRPr lang="en-US" sz="1100" dirty="0"/>
          </a:p>
        </p:txBody>
      </p:sp>
      <p:sp>
        <p:nvSpPr>
          <p:cNvPr id="32" name="Text 30"/>
          <p:cNvSpPr/>
          <p:nvPr/>
        </p:nvSpPr>
        <p:spPr>
          <a:xfrm>
            <a:off x="548640" y="6108192"/>
            <a:ext cx="11064240" cy="274320"/>
          </a:xfrm>
          <a:prstGeom prst="rect">
            <a:avLst/>
          </a:prstGeom>
          <a:noFill/>
          <a:ln/>
        </p:spPr>
        <p:txBody>
          <a:bodyPr wrap="square" rtlCol="0" anchor="ctr"/>
          <a:lstStyle/>
          <a:p>
            <a:pPr indent="0" marL="0">
              <a:buNone/>
            </a:pPr>
            <a:r>
              <a:rPr lang="en-US" sz="1050" i="1" dirty="0">
                <a:solidFill>
                  <a:srgbClr val="5E7262"/>
                </a:solidFill>
                <a:latin typeface="Calibri" pitchFamily="34" charset="0"/>
                <a:ea typeface="Calibri" pitchFamily="34" charset="-122"/>
                <a:cs typeface="Calibri" pitchFamily="34" charset="-120"/>
              </a:rPr>
              <a:t>Scalability is the ability to grow; elasticity is doing it automatically, in both directions, in response to live demand.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12</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High Availability and Fault Tolerance</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What happens when something breaks</a:t>
            </a:r>
            <a:endParaRPr lang="en-US" sz="1250" dirty="0"/>
          </a:p>
        </p:txBody>
      </p:sp>
      <p:sp>
        <p:nvSpPr>
          <p:cNvPr id="8" name="Shape 6"/>
          <p:cNvSpPr/>
          <p:nvPr/>
        </p:nvSpPr>
        <p:spPr>
          <a:xfrm>
            <a:off x="548640" y="1463040"/>
            <a:ext cx="5349240" cy="1371600"/>
          </a:xfrm>
          <a:prstGeom prst="roundRect">
            <a:avLst>
              <a:gd name="adj" fmla="val 3333"/>
            </a:avLst>
          </a:prstGeom>
          <a:solidFill>
            <a:srgbClr val="FFFFFF"/>
          </a:solidFill>
          <a:ln w="12700">
            <a:solidFill>
              <a:srgbClr val="C3CBB5"/>
            </a:solidFill>
            <a:prstDash val="solid"/>
          </a:ln>
        </p:spPr>
      </p:sp>
      <p:sp>
        <p:nvSpPr>
          <p:cNvPr id="9" name="Text 7"/>
          <p:cNvSpPr/>
          <p:nvPr/>
        </p:nvSpPr>
        <p:spPr>
          <a:xfrm>
            <a:off x="749808" y="1591056"/>
            <a:ext cx="49469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One application instance fails</a:t>
            </a:r>
            <a:endParaRPr lang="en-US" sz="1350" dirty="0"/>
          </a:p>
        </p:txBody>
      </p:sp>
      <p:sp>
        <p:nvSpPr>
          <p:cNvPr id="10" name="Text 8"/>
          <p:cNvSpPr/>
          <p:nvPr/>
        </p:nvSpPr>
        <p:spPr>
          <a:xfrm>
            <a:off x="749808" y="1920240"/>
            <a:ext cx="4946904" cy="76809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gateway's health probe stops routing to it within seconds, and the scale set launches a replacement. Guests notice nothing.</a:t>
            </a:r>
            <a:endParaRPr lang="en-US" sz="1100" dirty="0"/>
          </a:p>
        </p:txBody>
      </p:sp>
      <p:sp>
        <p:nvSpPr>
          <p:cNvPr id="11" name="Shape 9"/>
          <p:cNvSpPr/>
          <p:nvPr/>
        </p:nvSpPr>
        <p:spPr>
          <a:xfrm>
            <a:off x="6263640" y="1463040"/>
            <a:ext cx="5349240" cy="1371600"/>
          </a:xfrm>
          <a:prstGeom prst="roundRect">
            <a:avLst>
              <a:gd name="adj" fmla="val 3333"/>
            </a:avLst>
          </a:prstGeom>
          <a:solidFill>
            <a:srgbClr val="FFFFFF"/>
          </a:solidFill>
          <a:ln w="12700">
            <a:solidFill>
              <a:srgbClr val="C3CBB5"/>
            </a:solidFill>
            <a:prstDash val="solid"/>
          </a:ln>
        </p:spPr>
      </p:sp>
      <p:sp>
        <p:nvSpPr>
          <p:cNvPr id="12" name="Text 10"/>
          <p:cNvSpPr/>
          <p:nvPr/>
        </p:nvSpPr>
        <p:spPr>
          <a:xfrm>
            <a:off x="6464808" y="1591056"/>
            <a:ext cx="49469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An entire Availability Zone fails</a:t>
            </a:r>
            <a:endParaRPr lang="en-US" sz="1350" dirty="0"/>
          </a:p>
        </p:txBody>
      </p:sp>
      <p:sp>
        <p:nvSpPr>
          <p:cNvPr id="13" name="Text 11"/>
          <p:cNvSpPr/>
          <p:nvPr/>
        </p:nvSpPr>
        <p:spPr>
          <a:xfrm>
            <a:off x="6464808" y="1920240"/>
            <a:ext cx="4946904" cy="76809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instance and the database standby in the other zone keep serving. Capacity halves; the system stays up.</a:t>
            </a:r>
            <a:endParaRPr lang="en-US" sz="1100" dirty="0"/>
          </a:p>
        </p:txBody>
      </p:sp>
      <p:sp>
        <p:nvSpPr>
          <p:cNvPr id="14" name="Shape 12"/>
          <p:cNvSpPr/>
          <p:nvPr/>
        </p:nvSpPr>
        <p:spPr>
          <a:xfrm>
            <a:off x="548640" y="3108960"/>
            <a:ext cx="5349240" cy="1371600"/>
          </a:xfrm>
          <a:prstGeom prst="roundRect">
            <a:avLst>
              <a:gd name="adj" fmla="val 3333"/>
            </a:avLst>
          </a:prstGeom>
          <a:solidFill>
            <a:srgbClr val="FFFFFF"/>
          </a:solidFill>
          <a:ln w="12700">
            <a:solidFill>
              <a:srgbClr val="C3CBB5"/>
            </a:solidFill>
            <a:prstDash val="solid"/>
          </a:ln>
        </p:spPr>
      </p:sp>
      <p:sp>
        <p:nvSpPr>
          <p:cNvPr id="15" name="Text 13"/>
          <p:cNvSpPr/>
          <p:nvPr/>
        </p:nvSpPr>
        <p:spPr>
          <a:xfrm>
            <a:off x="749808" y="3236976"/>
            <a:ext cx="49469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The primary database fails</a:t>
            </a:r>
            <a:endParaRPr lang="en-US" sz="1350" dirty="0"/>
          </a:p>
        </p:txBody>
      </p:sp>
      <p:sp>
        <p:nvSpPr>
          <p:cNvPr id="16" name="Text 14"/>
          <p:cNvSpPr/>
          <p:nvPr/>
        </p:nvSpPr>
        <p:spPr>
          <a:xfrm>
            <a:off x="749808" y="3566160"/>
            <a:ext cx="4946904" cy="76809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Azure promotes the zone-redundant standby automatically. The server hostname does not change, so the application reconnects without a code change.</a:t>
            </a:r>
            <a:endParaRPr lang="en-US" sz="1100" dirty="0"/>
          </a:p>
        </p:txBody>
      </p:sp>
      <p:sp>
        <p:nvSpPr>
          <p:cNvPr id="17" name="Shape 15"/>
          <p:cNvSpPr/>
          <p:nvPr/>
        </p:nvSpPr>
        <p:spPr>
          <a:xfrm>
            <a:off x="6263640" y="3108960"/>
            <a:ext cx="5349240" cy="1371600"/>
          </a:xfrm>
          <a:prstGeom prst="roundRect">
            <a:avLst>
              <a:gd name="adj" fmla="val 3333"/>
            </a:avLst>
          </a:prstGeom>
          <a:solidFill>
            <a:srgbClr val="FFFFFF"/>
          </a:solidFill>
          <a:ln w="12700">
            <a:solidFill>
              <a:srgbClr val="C3CBB5"/>
            </a:solidFill>
            <a:prstDash val="solid"/>
          </a:ln>
        </p:spPr>
      </p:sp>
      <p:sp>
        <p:nvSpPr>
          <p:cNvPr id="18" name="Text 16"/>
          <p:cNvSpPr/>
          <p:nvPr/>
        </p:nvSpPr>
        <p:spPr>
          <a:xfrm>
            <a:off x="6464808" y="3236976"/>
            <a:ext cx="49469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Data is deleted by mistake</a:t>
            </a:r>
            <a:endParaRPr lang="en-US" sz="1350" dirty="0"/>
          </a:p>
        </p:txBody>
      </p:sp>
      <p:sp>
        <p:nvSpPr>
          <p:cNvPr id="19" name="Text 17"/>
          <p:cNvSpPr/>
          <p:nvPr/>
        </p:nvSpPr>
        <p:spPr>
          <a:xfrm>
            <a:off x="6464808" y="3566160"/>
            <a:ext cx="4946904" cy="76809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Restore from an automated backup. Point-in-time restore covers the retention window, which is seven days by default.</a:t>
            </a:r>
            <a:endParaRPr lang="en-US" sz="1100" dirty="0"/>
          </a:p>
        </p:txBody>
      </p:sp>
      <p:sp>
        <p:nvSpPr>
          <p:cNvPr id="20" name="Shape 18"/>
          <p:cNvSpPr/>
          <p:nvPr/>
        </p:nvSpPr>
        <p:spPr>
          <a:xfrm>
            <a:off x="548640" y="4343400"/>
            <a:ext cx="11064240" cy="914400"/>
          </a:xfrm>
          <a:prstGeom prst="roundRect">
            <a:avLst>
              <a:gd name="adj" fmla="val 5000"/>
            </a:avLst>
          </a:prstGeom>
          <a:solidFill>
            <a:srgbClr val="FFFFFF"/>
          </a:solidFill>
          <a:ln w="12700">
            <a:solidFill>
              <a:srgbClr val="C3CBB5"/>
            </a:solidFill>
            <a:prstDash val="solid"/>
          </a:ln>
        </p:spPr>
      </p:sp>
      <p:sp>
        <p:nvSpPr>
          <p:cNvPr id="21" name="Text 19"/>
          <p:cNvSpPr/>
          <p:nvPr/>
        </p:nvSpPr>
        <p:spPr>
          <a:xfrm>
            <a:off x="777240" y="4434840"/>
            <a:ext cx="2743200" cy="256032"/>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Recovery objectives</a:t>
            </a:r>
            <a:endParaRPr lang="en-US" sz="1250" dirty="0"/>
          </a:p>
        </p:txBody>
      </p:sp>
      <p:sp>
        <p:nvSpPr>
          <p:cNvPr id="22" name="Text 20"/>
          <p:cNvSpPr/>
          <p:nvPr/>
        </p:nvSpPr>
        <p:spPr>
          <a:xfrm>
            <a:off x="777240" y="4709160"/>
            <a:ext cx="10515600" cy="457200"/>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RTO - recovery time objective - is how long the hotel can be down; zone failover completes in minutes.        RPO - recovery point objective - is how much data may be lost; synchronous replication makes this effectively zero for a zone failure.</a:t>
            </a:r>
            <a:endParaRPr lang="en-US" sz="1050" dirty="0"/>
          </a:p>
        </p:txBody>
      </p:sp>
      <p:sp>
        <p:nvSpPr>
          <p:cNvPr id="23" name="Shape 21"/>
          <p:cNvSpPr/>
          <p:nvPr/>
        </p:nvSpPr>
        <p:spPr>
          <a:xfrm>
            <a:off x="548640" y="5394960"/>
            <a:ext cx="11064240" cy="868680"/>
          </a:xfrm>
          <a:prstGeom prst="roundRect">
            <a:avLst>
              <a:gd name="adj" fmla="val 5263"/>
            </a:avLst>
          </a:prstGeom>
          <a:solidFill>
            <a:srgbClr val="3A5A40"/>
          </a:solidFill>
          <a:ln w="12700">
            <a:solidFill>
              <a:srgbClr val="C3CBB5"/>
            </a:solidFill>
            <a:prstDash val="solid"/>
          </a:ln>
        </p:spPr>
      </p:sp>
      <p:sp>
        <p:nvSpPr>
          <p:cNvPr id="24" name="Text 22"/>
          <p:cNvSpPr/>
          <p:nvPr/>
        </p:nvSpPr>
        <p:spPr>
          <a:xfrm>
            <a:off x="777240" y="5477256"/>
            <a:ext cx="2926080" cy="237744"/>
          </a:xfrm>
          <a:prstGeom prst="rect">
            <a:avLst/>
          </a:prstGeom>
          <a:noFill/>
          <a:ln/>
        </p:spPr>
        <p:txBody>
          <a:bodyPr wrap="square" rtlCol="0" anchor="ctr"/>
          <a:lstStyle/>
          <a:p>
            <a:pPr indent="0" marL="0">
              <a:buNone/>
            </a:pPr>
            <a:r>
              <a:rPr lang="en-US" sz="1150" b="1" dirty="0">
                <a:solidFill>
                  <a:srgbClr val="A3B18A"/>
                </a:solidFill>
                <a:latin typeface="Calibri" pitchFamily="34" charset="0"/>
                <a:ea typeface="Calibri" pitchFamily="34" charset="-122"/>
                <a:cs typeface="Calibri" pitchFamily="34" charset="-120"/>
              </a:rPr>
              <a:t>An honest limitation</a:t>
            </a:r>
            <a:endParaRPr lang="en-US" sz="1150" dirty="0"/>
          </a:p>
        </p:txBody>
      </p:sp>
      <p:sp>
        <p:nvSpPr>
          <p:cNvPr id="25" name="Text 23"/>
          <p:cNvSpPr/>
          <p:nvPr/>
        </p:nvSpPr>
        <p:spPr>
          <a:xfrm>
            <a:off x="777240" y="5724144"/>
            <a:ext cx="10515600" cy="457200"/>
          </a:xfrm>
          <a:prstGeom prst="rect">
            <a:avLst/>
          </a:prstGeom>
          <a:noFill/>
          <a:ln/>
        </p:spPr>
        <p:txBody>
          <a:bodyPr wrap="square" rtlCol="0" anchor="ctr"/>
          <a:lstStyle/>
          <a:p>
            <a:pPr indent="0" marL="0">
              <a:lnSpc>
                <a:spcPts val="1400"/>
              </a:lnSpc>
              <a:buNone/>
            </a:pPr>
            <a:r>
              <a:rPr lang="en-US" sz="1050" dirty="0">
                <a:solidFill>
                  <a:srgbClr val="DAD7CD"/>
                </a:solidFill>
                <a:latin typeface="Calibri" pitchFamily="34" charset="0"/>
                <a:ea typeface="Calibri" pitchFamily="34" charset="-122"/>
                <a:cs typeface="Calibri" pitchFamily="34" charset="-120"/>
              </a:rPr>
              <a:t>Zone-redundant database HA requires a General Purpose tier. The Burstable tier a student subscription can afford does not support it, so our deployed configuration runs without database HA while the design provides for it. The template takes a flag and reports which mode is actually active.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13</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Cloud Security</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Layered controls, from the network inward</a:t>
            </a:r>
            <a:endParaRPr lang="en-US" sz="1250" dirty="0"/>
          </a:p>
        </p:txBody>
      </p:sp>
      <p:sp>
        <p:nvSpPr>
          <p:cNvPr id="8" name="Shape 6"/>
          <p:cNvSpPr/>
          <p:nvPr/>
        </p:nvSpPr>
        <p:spPr>
          <a:xfrm>
            <a:off x="548640" y="1463040"/>
            <a:ext cx="3520440" cy="1965960"/>
          </a:xfrm>
          <a:prstGeom prst="roundRect">
            <a:avLst>
              <a:gd name="adj" fmla="val 2326"/>
            </a:avLst>
          </a:prstGeom>
          <a:solidFill>
            <a:srgbClr val="FFFFFF"/>
          </a:solidFill>
          <a:ln w="12700">
            <a:solidFill>
              <a:srgbClr val="C3CBB5"/>
            </a:solidFill>
            <a:prstDash val="solid"/>
          </a:ln>
        </p:spPr>
      </p:sp>
      <p:sp>
        <p:nvSpPr>
          <p:cNvPr id="9" name="Text 7"/>
          <p:cNvSpPr/>
          <p:nvPr/>
        </p:nvSpPr>
        <p:spPr>
          <a:xfrm>
            <a:off x="749808"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Network isolation</a:t>
            </a:r>
            <a:endParaRPr lang="en-US" sz="1350" dirty="0"/>
          </a:p>
        </p:txBody>
      </p:sp>
      <p:sp>
        <p:nvSpPr>
          <p:cNvPr id="10" name="Text 8"/>
          <p:cNvSpPr/>
          <p:nvPr/>
        </p:nvSpPr>
        <p:spPr>
          <a:xfrm>
            <a:off x="749808" y="1920240"/>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VNet gives a private network. Only the Application Gateway sits in a public subnet; the VMs have no public IP and the database no public endpoint.</a:t>
            </a:r>
            <a:endParaRPr lang="en-US" sz="1100" dirty="0"/>
          </a:p>
        </p:txBody>
      </p:sp>
      <p:sp>
        <p:nvSpPr>
          <p:cNvPr id="11" name="Shape 9"/>
          <p:cNvSpPr/>
          <p:nvPr/>
        </p:nvSpPr>
        <p:spPr>
          <a:xfrm>
            <a:off x="4325112" y="1463040"/>
            <a:ext cx="3520440" cy="1965960"/>
          </a:xfrm>
          <a:prstGeom prst="roundRect">
            <a:avLst>
              <a:gd name="adj" fmla="val 2326"/>
            </a:avLst>
          </a:prstGeom>
          <a:solidFill>
            <a:srgbClr val="FFFFFF"/>
          </a:solidFill>
          <a:ln w="12700">
            <a:solidFill>
              <a:srgbClr val="C3CBB5"/>
            </a:solidFill>
            <a:prstDash val="solid"/>
          </a:ln>
        </p:spPr>
      </p:sp>
      <p:sp>
        <p:nvSpPr>
          <p:cNvPr id="12" name="Text 10"/>
          <p:cNvSpPr/>
          <p:nvPr/>
        </p:nvSpPr>
        <p:spPr>
          <a:xfrm>
            <a:off x="4526280"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Network security groups</a:t>
            </a:r>
            <a:endParaRPr lang="en-US" sz="1350" dirty="0"/>
          </a:p>
        </p:txBody>
      </p:sp>
      <p:sp>
        <p:nvSpPr>
          <p:cNvPr id="13" name="Text 11"/>
          <p:cNvSpPr/>
          <p:nvPr/>
        </p:nvSpPr>
        <p:spPr>
          <a:xfrm>
            <a:off x="4526280" y="1920240"/>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One per tier. The database accepts port 3306 only from the application subnet; the application accepts 8501 only from the gateway subnet.</a:t>
            </a:r>
            <a:endParaRPr lang="en-US" sz="1100" dirty="0"/>
          </a:p>
        </p:txBody>
      </p:sp>
      <p:sp>
        <p:nvSpPr>
          <p:cNvPr id="14" name="Shape 12"/>
          <p:cNvSpPr/>
          <p:nvPr/>
        </p:nvSpPr>
        <p:spPr>
          <a:xfrm>
            <a:off x="8101584" y="1463040"/>
            <a:ext cx="3520440" cy="1965960"/>
          </a:xfrm>
          <a:prstGeom prst="roundRect">
            <a:avLst>
              <a:gd name="adj" fmla="val 2326"/>
            </a:avLst>
          </a:prstGeom>
          <a:solidFill>
            <a:srgbClr val="FFFFFF"/>
          </a:solidFill>
          <a:ln w="12700">
            <a:solidFill>
              <a:srgbClr val="C3CBB5"/>
            </a:solidFill>
            <a:prstDash val="solid"/>
          </a:ln>
        </p:spPr>
      </p:sp>
      <p:sp>
        <p:nvSpPr>
          <p:cNvPr id="15" name="Text 13"/>
          <p:cNvSpPr/>
          <p:nvPr/>
        </p:nvSpPr>
        <p:spPr>
          <a:xfrm>
            <a:off x="8302752"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No secrets in code</a:t>
            </a:r>
            <a:endParaRPr lang="en-US" sz="1350" dirty="0"/>
          </a:p>
        </p:txBody>
      </p:sp>
      <p:sp>
        <p:nvSpPr>
          <p:cNvPr id="16" name="Text 14"/>
          <p:cNvSpPr/>
          <p:nvPr/>
        </p:nvSpPr>
        <p:spPr>
          <a:xfrm>
            <a:off x="8302752" y="1920240"/>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database password lives in Key Vault. Each VM reads it at boot with its managed identity, so nothing is committed to the repository.</a:t>
            </a:r>
            <a:endParaRPr lang="en-US" sz="1100" dirty="0"/>
          </a:p>
        </p:txBody>
      </p:sp>
      <p:sp>
        <p:nvSpPr>
          <p:cNvPr id="17" name="Shape 15"/>
          <p:cNvSpPr/>
          <p:nvPr/>
        </p:nvSpPr>
        <p:spPr>
          <a:xfrm>
            <a:off x="548640" y="3685032"/>
            <a:ext cx="3520440" cy="1965960"/>
          </a:xfrm>
          <a:prstGeom prst="roundRect">
            <a:avLst>
              <a:gd name="adj" fmla="val 2326"/>
            </a:avLst>
          </a:prstGeom>
          <a:solidFill>
            <a:srgbClr val="FFFFFF"/>
          </a:solidFill>
          <a:ln w="12700">
            <a:solidFill>
              <a:srgbClr val="C3CBB5"/>
            </a:solidFill>
            <a:prstDash val="solid"/>
          </a:ln>
        </p:spPr>
      </p:sp>
      <p:sp>
        <p:nvSpPr>
          <p:cNvPr id="18" name="Text 16"/>
          <p:cNvSpPr/>
          <p:nvPr/>
        </p:nvSpPr>
        <p:spPr>
          <a:xfrm>
            <a:off x="749808" y="38130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Managed identity and RBAC</a:t>
            </a:r>
            <a:endParaRPr lang="en-US" sz="1350" dirty="0"/>
          </a:p>
        </p:txBody>
      </p:sp>
      <p:sp>
        <p:nvSpPr>
          <p:cNvPr id="19" name="Text 17"/>
          <p:cNvSpPr/>
          <p:nvPr/>
        </p:nvSpPr>
        <p:spPr>
          <a:xfrm>
            <a:off x="749808" y="4142232"/>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scale set's identity is granted exactly one role - Key Vault Secrets User - and nothing else. No keys exist to leak.</a:t>
            </a:r>
            <a:endParaRPr lang="en-US" sz="1100" dirty="0"/>
          </a:p>
        </p:txBody>
      </p:sp>
      <p:sp>
        <p:nvSpPr>
          <p:cNvPr id="20" name="Shape 18"/>
          <p:cNvSpPr/>
          <p:nvPr/>
        </p:nvSpPr>
        <p:spPr>
          <a:xfrm>
            <a:off x="4325112" y="3685032"/>
            <a:ext cx="3520440" cy="1965960"/>
          </a:xfrm>
          <a:prstGeom prst="roundRect">
            <a:avLst>
              <a:gd name="adj" fmla="val 2326"/>
            </a:avLst>
          </a:prstGeom>
          <a:solidFill>
            <a:srgbClr val="FFFFFF"/>
          </a:solidFill>
          <a:ln w="12700">
            <a:solidFill>
              <a:srgbClr val="C3CBB5"/>
            </a:solidFill>
            <a:prstDash val="solid"/>
          </a:ln>
        </p:spPr>
      </p:sp>
      <p:sp>
        <p:nvSpPr>
          <p:cNvPr id="21" name="Text 19"/>
          <p:cNvSpPr/>
          <p:nvPr/>
        </p:nvSpPr>
        <p:spPr>
          <a:xfrm>
            <a:off x="4526280" y="38130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Encryption</a:t>
            </a:r>
            <a:endParaRPr lang="en-US" sz="1350" dirty="0"/>
          </a:p>
        </p:txBody>
      </p:sp>
      <p:sp>
        <p:nvSpPr>
          <p:cNvPr id="22" name="Text 20"/>
          <p:cNvSpPr/>
          <p:nvPr/>
        </p:nvSpPr>
        <p:spPr>
          <a:xfrm>
            <a:off x="4526280" y="4142232"/>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TLS in transit, enforced on MySQL connections; Azure encrypts the database and backups at rest. Guest ID and contact details are covered by both.</a:t>
            </a:r>
            <a:endParaRPr lang="en-US" sz="1100" dirty="0"/>
          </a:p>
        </p:txBody>
      </p:sp>
      <p:sp>
        <p:nvSpPr>
          <p:cNvPr id="23" name="Shape 21"/>
          <p:cNvSpPr/>
          <p:nvPr/>
        </p:nvSpPr>
        <p:spPr>
          <a:xfrm>
            <a:off x="8101584" y="3685032"/>
            <a:ext cx="3520440" cy="1965960"/>
          </a:xfrm>
          <a:prstGeom prst="roundRect">
            <a:avLst>
              <a:gd name="adj" fmla="val 2326"/>
            </a:avLst>
          </a:prstGeom>
          <a:solidFill>
            <a:srgbClr val="FFFFFF"/>
          </a:solidFill>
          <a:ln w="12700">
            <a:solidFill>
              <a:srgbClr val="C3CBB5"/>
            </a:solidFill>
            <a:prstDash val="solid"/>
          </a:ln>
        </p:spPr>
      </p:sp>
      <p:sp>
        <p:nvSpPr>
          <p:cNvPr id="24" name="Text 22"/>
          <p:cNvSpPr/>
          <p:nvPr/>
        </p:nvSpPr>
        <p:spPr>
          <a:xfrm>
            <a:off x="8302752" y="381304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Shared responsibility</a:t>
            </a:r>
            <a:endParaRPr lang="en-US" sz="1350" dirty="0"/>
          </a:p>
        </p:txBody>
      </p:sp>
      <p:sp>
        <p:nvSpPr>
          <p:cNvPr id="25" name="Text 23"/>
          <p:cNvSpPr/>
          <p:nvPr/>
        </p:nvSpPr>
        <p:spPr>
          <a:xfrm>
            <a:off x="8302752" y="4142232"/>
            <a:ext cx="3118104" cy="136245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Azure secures the cloud itself - hardware, hypervisor, managed services. We secure what we put in it - data, access rules, configuration.</a:t>
            </a:r>
            <a:endParaRPr lang="en-US" sz="1100" dirty="0"/>
          </a:p>
        </p:txBody>
      </p:sp>
      <p:sp>
        <p:nvSpPr>
          <p:cNvPr id="26" name="Shape 24"/>
          <p:cNvSpPr/>
          <p:nvPr/>
        </p:nvSpPr>
        <p:spPr>
          <a:xfrm>
            <a:off x="548640" y="5669280"/>
            <a:ext cx="11064240" cy="621792"/>
          </a:xfrm>
          <a:prstGeom prst="roundRect">
            <a:avLst>
              <a:gd name="adj" fmla="val 7353"/>
            </a:avLst>
          </a:prstGeom>
          <a:solidFill>
            <a:srgbClr val="A3B18A"/>
          </a:solidFill>
          <a:ln w="12700">
            <a:solidFill>
              <a:srgbClr val="C3CBB5"/>
            </a:solidFill>
            <a:prstDash val="solid"/>
          </a:ln>
        </p:spPr>
      </p:sp>
      <p:sp>
        <p:nvSpPr>
          <p:cNvPr id="27" name="Text 25"/>
          <p:cNvSpPr/>
          <p:nvPr/>
        </p:nvSpPr>
        <p:spPr>
          <a:xfrm>
            <a:off x="777240" y="5760720"/>
            <a:ext cx="10607040" cy="411480"/>
          </a:xfrm>
          <a:prstGeom prst="rect">
            <a:avLst/>
          </a:prstGeom>
          <a:noFill/>
          <a:ln/>
        </p:spPr>
        <p:txBody>
          <a:bodyPr wrap="square" rtlCol="0" anchor="ctr"/>
          <a:lstStyle/>
          <a:p>
            <a:pPr indent="0" marL="0">
              <a:lnSpc>
                <a:spcPts val="1400"/>
              </a:lnSpc>
              <a:buNone/>
            </a:pPr>
            <a:r>
              <a:rPr lang="en-US" sz="1100" dirty="0">
                <a:solidFill>
                  <a:srgbClr val="344E41"/>
                </a:solidFill>
                <a:latin typeface="Calibri" pitchFamily="34" charset="0"/>
                <a:ea typeface="Calibri" pitchFamily="34" charset="-122"/>
                <a:cs typeface="Calibri" pitchFamily="34" charset="-120"/>
              </a:rPr>
              <a:t>Carried over from the database project: passwords are stored as SHA-256 hashes and every query is parameterised, so the application is not vulnerable to SQL injection.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14</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Monitoring and Cost Model</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Watching the system, and paying only for what runs</a:t>
            </a:r>
            <a:endParaRPr lang="en-US" sz="1250" dirty="0"/>
          </a:p>
        </p:txBody>
      </p:sp>
      <p:sp>
        <p:nvSpPr>
          <p:cNvPr id="8" name="Text 6"/>
          <p:cNvSpPr/>
          <p:nvPr/>
        </p:nvSpPr>
        <p:spPr>
          <a:xfrm>
            <a:off x="548640" y="1444752"/>
            <a:ext cx="530352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Monitored by Azure Monitor</a:t>
            </a:r>
            <a:endParaRPr lang="en-US" sz="1350" dirty="0"/>
          </a:p>
        </p:txBody>
      </p:sp>
      <p:sp>
        <p:nvSpPr>
          <p:cNvPr id="9" name="Shape 7"/>
          <p:cNvSpPr/>
          <p:nvPr/>
        </p:nvSpPr>
        <p:spPr>
          <a:xfrm>
            <a:off x="548640" y="1783080"/>
            <a:ext cx="5394960" cy="484632"/>
          </a:xfrm>
          <a:prstGeom prst="roundRect">
            <a:avLst>
              <a:gd name="adj" fmla="val 7547"/>
            </a:avLst>
          </a:prstGeom>
          <a:solidFill>
            <a:srgbClr val="FFFFFF"/>
          </a:solidFill>
          <a:ln w="9525">
            <a:solidFill>
              <a:srgbClr val="C3CBB5"/>
            </a:solidFill>
            <a:prstDash val="solid"/>
          </a:ln>
        </p:spPr>
      </p:sp>
      <p:sp>
        <p:nvSpPr>
          <p:cNvPr id="10" name="Text 8"/>
          <p:cNvSpPr/>
          <p:nvPr/>
        </p:nvSpPr>
        <p:spPr>
          <a:xfrm>
            <a:off x="694944" y="1828800"/>
            <a:ext cx="210312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CPU utilisation</a:t>
            </a:r>
            <a:endParaRPr lang="en-US" sz="1050" dirty="0"/>
          </a:p>
        </p:txBody>
      </p:sp>
      <p:sp>
        <p:nvSpPr>
          <p:cNvPr id="11" name="Text 9"/>
          <p:cNvSpPr/>
          <p:nvPr/>
        </p:nvSpPr>
        <p:spPr>
          <a:xfrm>
            <a:off x="2907792" y="1828800"/>
            <a:ext cx="28712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Drives the autoscale rules and a high-CPU alert</a:t>
            </a:r>
            <a:endParaRPr lang="en-US" sz="1050" dirty="0"/>
          </a:p>
        </p:txBody>
      </p:sp>
      <p:sp>
        <p:nvSpPr>
          <p:cNvPr id="12" name="Shape 10"/>
          <p:cNvSpPr/>
          <p:nvPr/>
        </p:nvSpPr>
        <p:spPr>
          <a:xfrm>
            <a:off x="548640" y="2331720"/>
            <a:ext cx="5394960" cy="484632"/>
          </a:xfrm>
          <a:prstGeom prst="roundRect">
            <a:avLst>
              <a:gd name="adj" fmla="val 7547"/>
            </a:avLst>
          </a:prstGeom>
          <a:solidFill>
            <a:srgbClr val="EDEFE4"/>
          </a:solidFill>
          <a:ln w="9525">
            <a:solidFill>
              <a:srgbClr val="C3CBB5"/>
            </a:solidFill>
            <a:prstDash val="solid"/>
          </a:ln>
        </p:spPr>
      </p:sp>
      <p:sp>
        <p:nvSpPr>
          <p:cNvPr id="13" name="Text 11"/>
          <p:cNvSpPr/>
          <p:nvPr/>
        </p:nvSpPr>
        <p:spPr>
          <a:xfrm>
            <a:off x="694944" y="2377440"/>
            <a:ext cx="210312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Health probe status</a:t>
            </a:r>
            <a:endParaRPr lang="en-US" sz="1050" dirty="0"/>
          </a:p>
        </p:txBody>
      </p:sp>
      <p:sp>
        <p:nvSpPr>
          <p:cNvPr id="14" name="Text 12"/>
          <p:cNvSpPr/>
          <p:nvPr/>
        </p:nvSpPr>
        <p:spPr>
          <a:xfrm>
            <a:off x="2907792" y="2377440"/>
            <a:ext cx="28712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Shows instances the gateway has taken out of rotation</a:t>
            </a:r>
            <a:endParaRPr lang="en-US" sz="1050" dirty="0"/>
          </a:p>
        </p:txBody>
      </p:sp>
      <p:sp>
        <p:nvSpPr>
          <p:cNvPr id="15" name="Shape 13"/>
          <p:cNvSpPr/>
          <p:nvPr/>
        </p:nvSpPr>
        <p:spPr>
          <a:xfrm>
            <a:off x="548640" y="2880360"/>
            <a:ext cx="5394960" cy="484632"/>
          </a:xfrm>
          <a:prstGeom prst="roundRect">
            <a:avLst>
              <a:gd name="adj" fmla="val 7547"/>
            </a:avLst>
          </a:prstGeom>
          <a:solidFill>
            <a:srgbClr val="FFFFFF"/>
          </a:solidFill>
          <a:ln w="9525">
            <a:solidFill>
              <a:srgbClr val="C3CBB5"/>
            </a:solidFill>
            <a:prstDash val="solid"/>
          </a:ln>
        </p:spPr>
      </p:sp>
      <p:sp>
        <p:nvSpPr>
          <p:cNvPr id="16" name="Text 14"/>
          <p:cNvSpPr/>
          <p:nvPr/>
        </p:nvSpPr>
        <p:spPr>
          <a:xfrm>
            <a:off x="694944" y="2926080"/>
            <a:ext cx="210312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Database connections</a:t>
            </a:r>
            <a:endParaRPr lang="en-US" sz="1050" dirty="0"/>
          </a:p>
        </p:txBody>
      </p:sp>
      <p:sp>
        <p:nvSpPr>
          <p:cNvPr id="17" name="Text 15"/>
          <p:cNvSpPr/>
          <p:nvPr/>
        </p:nvSpPr>
        <p:spPr>
          <a:xfrm>
            <a:off x="2907792" y="2926080"/>
            <a:ext cx="28712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Warns before the connection limit is reached</a:t>
            </a:r>
            <a:endParaRPr lang="en-US" sz="1050" dirty="0"/>
          </a:p>
        </p:txBody>
      </p:sp>
      <p:sp>
        <p:nvSpPr>
          <p:cNvPr id="18" name="Shape 16"/>
          <p:cNvSpPr/>
          <p:nvPr/>
        </p:nvSpPr>
        <p:spPr>
          <a:xfrm>
            <a:off x="548640" y="3429000"/>
            <a:ext cx="5394960" cy="484632"/>
          </a:xfrm>
          <a:prstGeom prst="roundRect">
            <a:avLst>
              <a:gd name="adj" fmla="val 7547"/>
            </a:avLst>
          </a:prstGeom>
          <a:solidFill>
            <a:srgbClr val="EDEFE4"/>
          </a:solidFill>
          <a:ln w="9525">
            <a:solidFill>
              <a:srgbClr val="C3CBB5"/>
            </a:solidFill>
            <a:prstDash val="solid"/>
          </a:ln>
        </p:spPr>
      </p:sp>
      <p:sp>
        <p:nvSpPr>
          <p:cNvPr id="19" name="Text 17"/>
          <p:cNvSpPr/>
          <p:nvPr/>
        </p:nvSpPr>
        <p:spPr>
          <a:xfrm>
            <a:off x="694944" y="3474720"/>
            <a:ext cx="210312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Storage used</a:t>
            </a:r>
            <a:endParaRPr lang="en-US" sz="1050" dirty="0"/>
          </a:p>
        </p:txBody>
      </p:sp>
      <p:sp>
        <p:nvSpPr>
          <p:cNvPr id="20" name="Text 18"/>
          <p:cNvSpPr/>
          <p:nvPr/>
        </p:nvSpPr>
        <p:spPr>
          <a:xfrm>
            <a:off x="2907792" y="3474720"/>
            <a:ext cx="28712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Alerts before the server runs out of space</a:t>
            </a:r>
            <a:endParaRPr lang="en-US" sz="1050" dirty="0"/>
          </a:p>
        </p:txBody>
      </p:sp>
      <p:sp>
        <p:nvSpPr>
          <p:cNvPr id="21" name="Shape 19"/>
          <p:cNvSpPr/>
          <p:nvPr/>
        </p:nvSpPr>
        <p:spPr>
          <a:xfrm>
            <a:off x="548640" y="3977640"/>
            <a:ext cx="5394960" cy="484632"/>
          </a:xfrm>
          <a:prstGeom prst="roundRect">
            <a:avLst>
              <a:gd name="adj" fmla="val 7547"/>
            </a:avLst>
          </a:prstGeom>
          <a:solidFill>
            <a:srgbClr val="FFFFFF"/>
          </a:solidFill>
          <a:ln w="9525">
            <a:solidFill>
              <a:srgbClr val="C3CBB5"/>
            </a:solidFill>
            <a:prstDash val="solid"/>
          </a:ln>
        </p:spPr>
      </p:sp>
      <p:sp>
        <p:nvSpPr>
          <p:cNvPr id="22" name="Text 20"/>
          <p:cNvSpPr/>
          <p:nvPr/>
        </p:nvSpPr>
        <p:spPr>
          <a:xfrm>
            <a:off x="694944" y="4023360"/>
            <a:ext cx="210312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Application logs</a:t>
            </a:r>
            <a:endParaRPr lang="en-US" sz="1050" dirty="0"/>
          </a:p>
        </p:txBody>
      </p:sp>
      <p:sp>
        <p:nvSpPr>
          <p:cNvPr id="23" name="Text 21"/>
          <p:cNvSpPr/>
          <p:nvPr/>
        </p:nvSpPr>
        <p:spPr>
          <a:xfrm>
            <a:off x="2907792" y="4023360"/>
            <a:ext cx="28712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Collected centrally, so failures are traceable without SSH</a:t>
            </a:r>
            <a:endParaRPr lang="en-US" sz="1050" dirty="0"/>
          </a:p>
        </p:txBody>
      </p:sp>
      <p:sp>
        <p:nvSpPr>
          <p:cNvPr id="24" name="Text 22"/>
          <p:cNvSpPr/>
          <p:nvPr/>
        </p:nvSpPr>
        <p:spPr>
          <a:xfrm>
            <a:off x="6263640" y="1444752"/>
            <a:ext cx="5303520"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Pay-as-you-go cost model</a:t>
            </a:r>
            <a:endParaRPr lang="en-US" sz="1350" dirty="0"/>
          </a:p>
        </p:txBody>
      </p:sp>
      <p:sp>
        <p:nvSpPr>
          <p:cNvPr id="25" name="Shape 23"/>
          <p:cNvSpPr/>
          <p:nvPr/>
        </p:nvSpPr>
        <p:spPr>
          <a:xfrm>
            <a:off x="6263640" y="1783080"/>
            <a:ext cx="5349240" cy="484632"/>
          </a:xfrm>
          <a:prstGeom prst="roundRect">
            <a:avLst>
              <a:gd name="adj" fmla="val 7547"/>
            </a:avLst>
          </a:prstGeom>
          <a:solidFill>
            <a:srgbClr val="FFFFFF"/>
          </a:solidFill>
          <a:ln w="9525">
            <a:solidFill>
              <a:srgbClr val="C3CBB5"/>
            </a:solidFill>
            <a:prstDash val="solid"/>
          </a:ln>
        </p:spPr>
      </p:sp>
      <p:sp>
        <p:nvSpPr>
          <p:cNvPr id="26" name="Text 24"/>
          <p:cNvSpPr/>
          <p:nvPr/>
        </p:nvSpPr>
        <p:spPr>
          <a:xfrm>
            <a:off x="6409944" y="1828800"/>
            <a:ext cx="137160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Compute</a:t>
            </a:r>
            <a:endParaRPr lang="en-US" sz="1050" dirty="0"/>
          </a:p>
        </p:txBody>
      </p:sp>
      <p:sp>
        <p:nvSpPr>
          <p:cNvPr id="27" name="Text 25"/>
          <p:cNvSpPr/>
          <p:nvPr/>
        </p:nvSpPr>
        <p:spPr>
          <a:xfrm>
            <a:off x="7891272" y="1828800"/>
            <a:ext cx="35570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Billed per second a VM runs, so scaling in at night costs nothing to do</a:t>
            </a:r>
            <a:endParaRPr lang="en-US" sz="1050" dirty="0"/>
          </a:p>
        </p:txBody>
      </p:sp>
      <p:sp>
        <p:nvSpPr>
          <p:cNvPr id="28" name="Shape 26"/>
          <p:cNvSpPr/>
          <p:nvPr/>
        </p:nvSpPr>
        <p:spPr>
          <a:xfrm>
            <a:off x="6263640" y="2331720"/>
            <a:ext cx="5349240" cy="484632"/>
          </a:xfrm>
          <a:prstGeom prst="roundRect">
            <a:avLst>
              <a:gd name="adj" fmla="val 7547"/>
            </a:avLst>
          </a:prstGeom>
          <a:solidFill>
            <a:srgbClr val="EDEFE4"/>
          </a:solidFill>
          <a:ln w="9525">
            <a:solidFill>
              <a:srgbClr val="C3CBB5"/>
            </a:solidFill>
            <a:prstDash val="solid"/>
          </a:ln>
        </p:spPr>
      </p:sp>
      <p:sp>
        <p:nvSpPr>
          <p:cNvPr id="29" name="Text 27"/>
          <p:cNvSpPr/>
          <p:nvPr/>
        </p:nvSpPr>
        <p:spPr>
          <a:xfrm>
            <a:off x="6409944" y="2377440"/>
            <a:ext cx="137160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Database</a:t>
            </a:r>
            <a:endParaRPr lang="en-US" sz="1050" dirty="0"/>
          </a:p>
        </p:txBody>
      </p:sp>
      <p:sp>
        <p:nvSpPr>
          <p:cNvPr id="30" name="Text 28"/>
          <p:cNvSpPr/>
          <p:nvPr/>
        </p:nvSpPr>
        <p:spPr>
          <a:xfrm>
            <a:off x="7891272" y="2377440"/>
            <a:ext cx="35570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Billed per hour by tier, plus the storage consumed</a:t>
            </a:r>
            <a:endParaRPr lang="en-US" sz="1050" dirty="0"/>
          </a:p>
        </p:txBody>
      </p:sp>
      <p:sp>
        <p:nvSpPr>
          <p:cNvPr id="31" name="Shape 29"/>
          <p:cNvSpPr/>
          <p:nvPr/>
        </p:nvSpPr>
        <p:spPr>
          <a:xfrm>
            <a:off x="6263640" y="2880360"/>
            <a:ext cx="5349240" cy="484632"/>
          </a:xfrm>
          <a:prstGeom prst="roundRect">
            <a:avLst>
              <a:gd name="adj" fmla="val 7547"/>
            </a:avLst>
          </a:prstGeom>
          <a:solidFill>
            <a:srgbClr val="FFFFFF"/>
          </a:solidFill>
          <a:ln w="9525">
            <a:solidFill>
              <a:srgbClr val="C3CBB5"/>
            </a:solidFill>
            <a:prstDash val="solid"/>
          </a:ln>
        </p:spPr>
      </p:sp>
      <p:sp>
        <p:nvSpPr>
          <p:cNvPr id="32" name="Text 30"/>
          <p:cNvSpPr/>
          <p:nvPr/>
        </p:nvSpPr>
        <p:spPr>
          <a:xfrm>
            <a:off x="6409944" y="2926080"/>
            <a:ext cx="137160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Gateway</a:t>
            </a:r>
            <a:endParaRPr lang="en-US" sz="1050" dirty="0"/>
          </a:p>
        </p:txBody>
      </p:sp>
      <p:sp>
        <p:nvSpPr>
          <p:cNvPr id="33" name="Text 31"/>
          <p:cNvSpPr/>
          <p:nvPr/>
        </p:nvSpPr>
        <p:spPr>
          <a:xfrm>
            <a:off x="7891272" y="2926080"/>
            <a:ext cx="35570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Billed hourly plus capacity units; the largest fixed cost in this design</a:t>
            </a:r>
            <a:endParaRPr lang="en-US" sz="1050" dirty="0"/>
          </a:p>
        </p:txBody>
      </p:sp>
      <p:sp>
        <p:nvSpPr>
          <p:cNvPr id="34" name="Shape 32"/>
          <p:cNvSpPr/>
          <p:nvPr/>
        </p:nvSpPr>
        <p:spPr>
          <a:xfrm>
            <a:off x="6263640" y="3429000"/>
            <a:ext cx="5349240" cy="484632"/>
          </a:xfrm>
          <a:prstGeom prst="roundRect">
            <a:avLst>
              <a:gd name="adj" fmla="val 7547"/>
            </a:avLst>
          </a:prstGeom>
          <a:solidFill>
            <a:srgbClr val="EDEFE4"/>
          </a:solidFill>
          <a:ln w="9525">
            <a:solidFill>
              <a:srgbClr val="C3CBB5"/>
            </a:solidFill>
            <a:prstDash val="solid"/>
          </a:ln>
        </p:spPr>
      </p:sp>
      <p:sp>
        <p:nvSpPr>
          <p:cNvPr id="35" name="Text 33"/>
          <p:cNvSpPr/>
          <p:nvPr/>
        </p:nvSpPr>
        <p:spPr>
          <a:xfrm>
            <a:off x="6409944" y="3474720"/>
            <a:ext cx="137160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Storage</a:t>
            </a:r>
            <a:endParaRPr lang="en-US" sz="1050" dirty="0"/>
          </a:p>
        </p:txBody>
      </p:sp>
      <p:sp>
        <p:nvSpPr>
          <p:cNvPr id="36" name="Text 34"/>
          <p:cNvSpPr/>
          <p:nvPr/>
        </p:nvSpPr>
        <p:spPr>
          <a:xfrm>
            <a:off x="7891272" y="3474720"/>
            <a:ext cx="35570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Per GB per month; backup snapshots are incremental</a:t>
            </a:r>
            <a:endParaRPr lang="en-US" sz="1050" dirty="0"/>
          </a:p>
        </p:txBody>
      </p:sp>
      <p:sp>
        <p:nvSpPr>
          <p:cNvPr id="37" name="Shape 35"/>
          <p:cNvSpPr/>
          <p:nvPr/>
        </p:nvSpPr>
        <p:spPr>
          <a:xfrm>
            <a:off x="6263640" y="3977640"/>
            <a:ext cx="5349240" cy="484632"/>
          </a:xfrm>
          <a:prstGeom prst="roundRect">
            <a:avLst>
              <a:gd name="adj" fmla="val 7547"/>
            </a:avLst>
          </a:prstGeom>
          <a:solidFill>
            <a:srgbClr val="FFFFFF"/>
          </a:solidFill>
          <a:ln w="9525">
            <a:solidFill>
              <a:srgbClr val="C3CBB5"/>
            </a:solidFill>
            <a:prstDash val="solid"/>
          </a:ln>
        </p:spPr>
      </p:sp>
      <p:sp>
        <p:nvSpPr>
          <p:cNvPr id="38" name="Text 36"/>
          <p:cNvSpPr/>
          <p:nvPr/>
        </p:nvSpPr>
        <p:spPr>
          <a:xfrm>
            <a:off x="6409944" y="4023360"/>
            <a:ext cx="1371600" cy="393192"/>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Egress</a:t>
            </a:r>
            <a:endParaRPr lang="en-US" sz="1050" dirty="0"/>
          </a:p>
        </p:txBody>
      </p:sp>
      <p:sp>
        <p:nvSpPr>
          <p:cNvPr id="39" name="Text 37"/>
          <p:cNvSpPr/>
          <p:nvPr/>
        </p:nvSpPr>
        <p:spPr>
          <a:xfrm>
            <a:off x="7891272" y="4023360"/>
            <a:ext cx="3557016" cy="393192"/>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Inbound free, outbound charged per GB</a:t>
            </a:r>
            <a:endParaRPr lang="en-US" sz="1050" dirty="0"/>
          </a:p>
        </p:txBody>
      </p:sp>
      <p:sp>
        <p:nvSpPr>
          <p:cNvPr id="40" name="Shape 38"/>
          <p:cNvSpPr/>
          <p:nvPr/>
        </p:nvSpPr>
        <p:spPr>
          <a:xfrm>
            <a:off x="548640" y="4754880"/>
            <a:ext cx="11064240" cy="1463040"/>
          </a:xfrm>
          <a:prstGeom prst="roundRect">
            <a:avLst>
              <a:gd name="adj" fmla="val 3125"/>
            </a:avLst>
          </a:prstGeom>
          <a:solidFill>
            <a:srgbClr val="FFFFFF"/>
          </a:solidFill>
          <a:ln w="12700">
            <a:solidFill>
              <a:srgbClr val="C3CBB5"/>
            </a:solidFill>
            <a:prstDash val="solid"/>
          </a:ln>
        </p:spPr>
      </p:sp>
      <p:sp>
        <p:nvSpPr>
          <p:cNvPr id="41" name="Text 39"/>
          <p:cNvSpPr/>
          <p:nvPr/>
        </p:nvSpPr>
        <p:spPr>
          <a:xfrm>
            <a:off x="777240" y="4864608"/>
            <a:ext cx="5943600" cy="274320"/>
          </a:xfrm>
          <a:prstGeom prst="rect">
            <a:avLst/>
          </a:prstGeom>
          <a:noFill/>
          <a:ln/>
        </p:spPr>
        <p:txBody>
          <a:bodyPr wrap="square" rtlCol="0" anchor="ctr"/>
          <a:lstStyle/>
          <a:p>
            <a:pPr indent="0" marL="0">
              <a:buNone/>
            </a:pPr>
            <a:r>
              <a:rPr lang="en-US" sz="1250" b="1" dirty="0">
                <a:solidFill>
                  <a:srgbClr val="588157"/>
                </a:solidFill>
                <a:latin typeface="Calibri" pitchFamily="34" charset="0"/>
                <a:ea typeface="Calibri" pitchFamily="34" charset="-122"/>
                <a:cs typeface="Calibri" pitchFamily="34" charset="-120"/>
              </a:rPr>
              <a:t>Capital expenditure versus operational expenditure</a:t>
            </a:r>
            <a:endParaRPr lang="en-US" sz="1250" dirty="0"/>
          </a:p>
        </p:txBody>
      </p:sp>
      <p:sp>
        <p:nvSpPr>
          <p:cNvPr id="42" name="Text 40"/>
          <p:cNvSpPr/>
          <p:nvPr/>
        </p:nvSpPr>
        <p:spPr>
          <a:xfrm>
            <a:off x="777240" y="5138928"/>
            <a:ext cx="10607040" cy="1005840"/>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Buying a server is a capital expense: paid once, owned, and depreciating whether used or not. Cloud is operational: paid monthly, matched to usage, and stopped the moment a resource is switched off. For a hotel with a seasonal occupancy pattern the second model fits demand far more closely.</a:t>
            </a:r>
            <a:endParaRPr lang="en-US" sz="1050" dirty="0"/>
          </a:p>
          <a:p>
            <a:pPr indent="0" marL="0">
              <a:lnSpc>
                <a:spcPts val="1400"/>
              </a:lnSpc>
              <a:buNone/>
            </a:pPr>
            <a:endParaRPr lang="en-US" sz="1050" dirty="0"/>
          </a:p>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It is not automatically cheaper. For a steady, always-on workload with predictable load, owning hardware can work out less expensive over several years. The cloud wins on variable demand, on not paying before you start, and on not having to replace anything.</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15</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Work Completed and Implementation Plan</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5E7262"/>
                </a:solidFill>
                <a:latin typeface="Calibri" pitchFamily="34" charset="0"/>
                <a:ea typeface="Calibri" pitchFamily="34" charset="-122"/>
                <a:cs typeface="Calibri" pitchFamily="34" charset="-120"/>
              </a:rPr>
              <a:t>What exists today, and what happens next</a:t>
            </a:r>
            <a:endParaRPr lang="en-US" sz="1250" dirty="0"/>
          </a:p>
        </p:txBody>
      </p:sp>
      <p:sp>
        <p:nvSpPr>
          <p:cNvPr id="8" name="Text 6"/>
          <p:cNvSpPr/>
          <p:nvPr/>
        </p:nvSpPr>
        <p:spPr>
          <a:xfrm>
            <a:off x="548640" y="1444752"/>
            <a:ext cx="5303520" cy="274320"/>
          </a:xfrm>
          <a:prstGeom prst="rect">
            <a:avLst/>
          </a:prstGeom>
          <a:noFill/>
          <a:ln/>
        </p:spPr>
        <p:txBody>
          <a:bodyPr wrap="square" rtlCol="0" anchor="ctr"/>
          <a:lstStyle/>
          <a:p>
            <a:pPr indent="0" marL="0">
              <a:buNone/>
            </a:pPr>
            <a:r>
              <a:rPr lang="en-US" sz="1400" b="1" dirty="0">
                <a:solidFill>
                  <a:srgbClr val="588157"/>
                </a:solidFill>
                <a:latin typeface="Calibri" pitchFamily="34" charset="0"/>
                <a:ea typeface="Calibri" pitchFamily="34" charset="-122"/>
                <a:cs typeface="Calibri" pitchFamily="34" charset="-120"/>
              </a:rPr>
              <a:t>Completed</a:t>
            </a:r>
            <a:endParaRPr lang="en-US" sz="1400" dirty="0"/>
          </a:p>
        </p:txBody>
      </p:sp>
      <p:sp>
        <p:nvSpPr>
          <p:cNvPr id="9" name="Text 7"/>
          <p:cNvSpPr/>
          <p:nvPr/>
        </p:nvSpPr>
        <p:spPr>
          <a:xfrm>
            <a:off x="548640" y="1783080"/>
            <a:ext cx="5394960" cy="3108960"/>
          </a:xfrm>
          <a:prstGeom prst="rect">
            <a:avLst/>
          </a:prstGeom>
          <a:noFill/>
          <a:ln/>
        </p:spPr>
        <p:txBody>
          <a:bodyPr wrap="square" rtlCol="0" anchor="ctr"/>
          <a:lstStyle/>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Three-tier application built and working: Streamlit front end, Python data access layer, MySQL database</a:t>
            </a:r>
            <a:endParaRPr lang="en-US" sz="1050" dirty="0"/>
          </a:p>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Six normalised tables in 3NF with foreign keys, three views, two triggers and a stored procedure</a:t>
            </a:r>
            <a:endParaRPr lang="en-US" sz="1050" dirty="0"/>
          </a:p>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Cloud architecture designed: network layout, service selection, scaling policy and security model</a:t>
            </a:r>
            <a:endParaRPr lang="en-US" sz="1050" dirty="0"/>
          </a:p>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Infrastructure as Code written: seven Bicep files, cloud-init bootstrap, deploy and teardown scripts</a:t>
            </a:r>
            <a:endParaRPr lang="en-US" sz="1050" dirty="0"/>
          </a:p>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Templates validated - the full stack compiles to a valid ARM template with no errors or warnings</a:t>
            </a:r>
            <a:endParaRPr lang="en-US" sz="1050" dirty="0"/>
          </a:p>
          <a:p>
            <a:pPr marL="342900" indent="-342900">
              <a:lnSpc>
                <a:spcPts val="1450"/>
              </a:lnSpc>
              <a:spcAft>
                <a:spcPts val="600"/>
              </a:spcAft>
              <a:buSzPct val="100000"/>
              <a:buChar char="✓"/>
            </a:pPr>
            <a:r>
              <a:rPr lang="en-US" sz="1050" dirty="0">
                <a:solidFill>
                  <a:srgbClr val="344E41"/>
                </a:solidFill>
                <a:latin typeface="Calibri" pitchFamily="34" charset="0"/>
                <a:ea typeface="Calibri" pitchFamily="34" charset="-122"/>
                <a:cs typeface="Calibri" pitchFamily="34" charset="-120"/>
              </a:rPr>
              <a:t>Migration procedure documented, including the binary-logging parameter the import depends on</a:t>
            </a:r>
            <a:endParaRPr lang="en-US" sz="1050" dirty="0"/>
          </a:p>
        </p:txBody>
      </p:sp>
      <p:sp>
        <p:nvSpPr>
          <p:cNvPr id="10" name="Text 8"/>
          <p:cNvSpPr/>
          <p:nvPr/>
        </p:nvSpPr>
        <p:spPr>
          <a:xfrm>
            <a:off x="6263640" y="1444752"/>
            <a:ext cx="5303520" cy="274320"/>
          </a:xfrm>
          <a:prstGeom prst="rect">
            <a:avLst/>
          </a:prstGeom>
          <a:noFill/>
          <a:ln/>
        </p:spPr>
        <p:txBody>
          <a:bodyPr wrap="square" rtlCol="0" anchor="ctr"/>
          <a:lstStyle/>
          <a:p>
            <a:pPr indent="0" marL="0">
              <a:buNone/>
            </a:pPr>
            <a:r>
              <a:rPr lang="en-US" sz="1400" b="1" dirty="0">
                <a:solidFill>
                  <a:srgbClr val="344E41"/>
                </a:solidFill>
                <a:latin typeface="Calibri" pitchFamily="34" charset="0"/>
                <a:ea typeface="Calibri" pitchFamily="34" charset="-122"/>
                <a:cs typeface="Calibri" pitchFamily="34" charset="-120"/>
              </a:rPr>
              <a:t>Remaining</a:t>
            </a:r>
            <a:endParaRPr lang="en-US" sz="1400" dirty="0"/>
          </a:p>
        </p:txBody>
      </p:sp>
      <p:sp>
        <p:nvSpPr>
          <p:cNvPr id="11" name="Shape 9"/>
          <p:cNvSpPr/>
          <p:nvPr/>
        </p:nvSpPr>
        <p:spPr>
          <a:xfrm>
            <a:off x="6263640" y="1783080"/>
            <a:ext cx="5349240" cy="502920"/>
          </a:xfrm>
          <a:prstGeom prst="roundRect">
            <a:avLst>
              <a:gd name="adj" fmla="val 7273"/>
            </a:avLst>
          </a:prstGeom>
          <a:solidFill>
            <a:srgbClr val="EDEFE4"/>
          </a:solidFill>
          <a:ln w="9525">
            <a:solidFill>
              <a:srgbClr val="C3CBB5"/>
            </a:solidFill>
            <a:prstDash val="solid"/>
          </a:ln>
        </p:spPr>
      </p:sp>
      <p:sp>
        <p:nvSpPr>
          <p:cNvPr id="12" name="Text 10"/>
          <p:cNvSpPr/>
          <p:nvPr/>
        </p:nvSpPr>
        <p:spPr>
          <a:xfrm>
            <a:off x="6409944" y="1828800"/>
            <a:ext cx="1005840" cy="411480"/>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Phase 1</a:t>
            </a:r>
            <a:endParaRPr lang="en-US" sz="1050" dirty="0"/>
          </a:p>
        </p:txBody>
      </p:sp>
      <p:sp>
        <p:nvSpPr>
          <p:cNvPr id="13" name="Text 11"/>
          <p:cNvSpPr/>
          <p:nvPr/>
        </p:nvSpPr>
        <p:spPr>
          <a:xfrm>
            <a:off x="7525512" y="1828800"/>
            <a:ext cx="3922776" cy="411480"/>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Provision the resource group and run the deployment</a:t>
            </a:r>
            <a:endParaRPr lang="en-US" sz="1050" dirty="0"/>
          </a:p>
        </p:txBody>
      </p:sp>
      <p:sp>
        <p:nvSpPr>
          <p:cNvPr id="14" name="Shape 12"/>
          <p:cNvSpPr/>
          <p:nvPr/>
        </p:nvSpPr>
        <p:spPr>
          <a:xfrm>
            <a:off x="6263640" y="2350008"/>
            <a:ext cx="5349240" cy="502920"/>
          </a:xfrm>
          <a:prstGeom prst="roundRect">
            <a:avLst>
              <a:gd name="adj" fmla="val 7273"/>
            </a:avLst>
          </a:prstGeom>
          <a:solidFill>
            <a:srgbClr val="FFFFFF"/>
          </a:solidFill>
          <a:ln w="9525">
            <a:solidFill>
              <a:srgbClr val="C3CBB5"/>
            </a:solidFill>
            <a:prstDash val="solid"/>
          </a:ln>
        </p:spPr>
      </p:sp>
      <p:sp>
        <p:nvSpPr>
          <p:cNvPr id="15" name="Text 13"/>
          <p:cNvSpPr/>
          <p:nvPr/>
        </p:nvSpPr>
        <p:spPr>
          <a:xfrm>
            <a:off x="6409944" y="2395728"/>
            <a:ext cx="1005840" cy="411480"/>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Phase 2</a:t>
            </a:r>
            <a:endParaRPr lang="en-US" sz="1050" dirty="0"/>
          </a:p>
        </p:txBody>
      </p:sp>
      <p:sp>
        <p:nvSpPr>
          <p:cNvPr id="16" name="Text 14"/>
          <p:cNvSpPr/>
          <p:nvPr/>
        </p:nvSpPr>
        <p:spPr>
          <a:xfrm>
            <a:off x="7525512" y="2395728"/>
            <a:ext cx="3922776" cy="411480"/>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Load the schema and verify row counts against the local database</a:t>
            </a:r>
            <a:endParaRPr lang="en-US" sz="1050" dirty="0"/>
          </a:p>
        </p:txBody>
      </p:sp>
      <p:sp>
        <p:nvSpPr>
          <p:cNvPr id="17" name="Shape 15"/>
          <p:cNvSpPr/>
          <p:nvPr/>
        </p:nvSpPr>
        <p:spPr>
          <a:xfrm>
            <a:off x="6263640" y="2916936"/>
            <a:ext cx="5349240" cy="502920"/>
          </a:xfrm>
          <a:prstGeom prst="roundRect">
            <a:avLst>
              <a:gd name="adj" fmla="val 7273"/>
            </a:avLst>
          </a:prstGeom>
          <a:solidFill>
            <a:srgbClr val="EDEFE4"/>
          </a:solidFill>
          <a:ln w="9525">
            <a:solidFill>
              <a:srgbClr val="C3CBB5"/>
            </a:solidFill>
            <a:prstDash val="solid"/>
          </a:ln>
        </p:spPr>
      </p:sp>
      <p:sp>
        <p:nvSpPr>
          <p:cNvPr id="18" name="Text 16"/>
          <p:cNvSpPr/>
          <p:nvPr/>
        </p:nvSpPr>
        <p:spPr>
          <a:xfrm>
            <a:off x="6409944" y="2962656"/>
            <a:ext cx="1005840" cy="411480"/>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Phase 3</a:t>
            </a:r>
            <a:endParaRPr lang="en-US" sz="1050" dirty="0"/>
          </a:p>
        </p:txBody>
      </p:sp>
      <p:sp>
        <p:nvSpPr>
          <p:cNvPr id="19" name="Text 17"/>
          <p:cNvSpPr/>
          <p:nvPr/>
        </p:nvSpPr>
        <p:spPr>
          <a:xfrm>
            <a:off x="7525512" y="2962656"/>
            <a:ext cx="3922776" cy="411480"/>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Confirm the gateway reports both instances healthy</a:t>
            </a:r>
            <a:endParaRPr lang="en-US" sz="1050" dirty="0"/>
          </a:p>
        </p:txBody>
      </p:sp>
      <p:sp>
        <p:nvSpPr>
          <p:cNvPr id="20" name="Shape 18"/>
          <p:cNvSpPr/>
          <p:nvPr/>
        </p:nvSpPr>
        <p:spPr>
          <a:xfrm>
            <a:off x="6263640" y="3483864"/>
            <a:ext cx="5349240" cy="502920"/>
          </a:xfrm>
          <a:prstGeom prst="roundRect">
            <a:avLst>
              <a:gd name="adj" fmla="val 7273"/>
            </a:avLst>
          </a:prstGeom>
          <a:solidFill>
            <a:srgbClr val="FFFFFF"/>
          </a:solidFill>
          <a:ln w="9525">
            <a:solidFill>
              <a:srgbClr val="C3CBB5"/>
            </a:solidFill>
            <a:prstDash val="solid"/>
          </a:ln>
        </p:spPr>
      </p:sp>
      <p:sp>
        <p:nvSpPr>
          <p:cNvPr id="21" name="Text 19"/>
          <p:cNvSpPr/>
          <p:nvPr/>
        </p:nvSpPr>
        <p:spPr>
          <a:xfrm>
            <a:off x="6409944" y="3529584"/>
            <a:ext cx="1005840" cy="411480"/>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Phase 4</a:t>
            </a:r>
            <a:endParaRPr lang="en-US" sz="1050" dirty="0"/>
          </a:p>
        </p:txBody>
      </p:sp>
      <p:sp>
        <p:nvSpPr>
          <p:cNvPr id="22" name="Text 20"/>
          <p:cNvSpPr/>
          <p:nvPr/>
        </p:nvSpPr>
        <p:spPr>
          <a:xfrm>
            <a:off x="7525512" y="3529584"/>
            <a:ext cx="3922776" cy="411480"/>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Load-test the autoscale rules and capture the instance count rising</a:t>
            </a:r>
            <a:endParaRPr lang="en-US" sz="1050" dirty="0"/>
          </a:p>
        </p:txBody>
      </p:sp>
      <p:sp>
        <p:nvSpPr>
          <p:cNvPr id="23" name="Shape 21"/>
          <p:cNvSpPr/>
          <p:nvPr/>
        </p:nvSpPr>
        <p:spPr>
          <a:xfrm>
            <a:off x="6263640" y="4050792"/>
            <a:ext cx="5349240" cy="502920"/>
          </a:xfrm>
          <a:prstGeom prst="roundRect">
            <a:avLst>
              <a:gd name="adj" fmla="val 7273"/>
            </a:avLst>
          </a:prstGeom>
          <a:solidFill>
            <a:srgbClr val="EDEFE4"/>
          </a:solidFill>
          <a:ln w="9525">
            <a:solidFill>
              <a:srgbClr val="C3CBB5"/>
            </a:solidFill>
            <a:prstDash val="solid"/>
          </a:ln>
        </p:spPr>
      </p:sp>
      <p:sp>
        <p:nvSpPr>
          <p:cNvPr id="24" name="Text 22"/>
          <p:cNvSpPr/>
          <p:nvPr/>
        </p:nvSpPr>
        <p:spPr>
          <a:xfrm>
            <a:off x="6409944" y="4096512"/>
            <a:ext cx="1005840" cy="411480"/>
          </a:xfrm>
          <a:prstGeom prst="rect">
            <a:avLst/>
          </a:prstGeom>
          <a:noFill/>
          <a:ln/>
        </p:spPr>
        <p:txBody>
          <a:bodyPr wrap="square" rtlCol="0" anchor="ctr"/>
          <a:lstStyle/>
          <a:p>
            <a:pPr indent="0" marL="0">
              <a:buNone/>
            </a:pPr>
            <a:r>
              <a:rPr lang="en-US" sz="1050" b="1" dirty="0">
                <a:solidFill>
                  <a:srgbClr val="344E41"/>
                </a:solidFill>
                <a:latin typeface="Calibri" pitchFamily="34" charset="0"/>
                <a:ea typeface="Calibri" pitchFamily="34" charset="-122"/>
                <a:cs typeface="Calibri" pitchFamily="34" charset="-120"/>
              </a:rPr>
              <a:t>Phase 5</a:t>
            </a:r>
            <a:endParaRPr lang="en-US" sz="1050" dirty="0"/>
          </a:p>
        </p:txBody>
      </p:sp>
      <p:sp>
        <p:nvSpPr>
          <p:cNvPr id="25" name="Text 23"/>
          <p:cNvSpPr/>
          <p:nvPr/>
        </p:nvSpPr>
        <p:spPr>
          <a:xfrm>
            <a:off x="7525512" y="4096512"/>
            <a:ext cx="3922776" cy="411480"/>
          </a:xfrm>
          <a:prstGeom prst="rect">
            <a:avLst/>
          </a:prstGeom>
          <a:noFill/>
          <a:ln/>
        </p:spPr>
        <p:txBody>
          <a:bodyPr wrap="square" rtlCol="0" anchor="ctr"/>
          <a:lstStyle/>
          <a:p>
            <a:pPr indent="0" marL="0">
              <a:buNone/>
            </a:pPr>
            <a:r>
              <a:rPr lang="en-US" sz="1050" dirty="0">
                <a:solidFill>
                  <a:srgbClr val="344E41"/>
                </a:solidFill>
                <a:latin typeface="Calibri" pitchFamily="34" charset="0"/>
                <a:ea typeface="Calibri" pitchFamily="34" charset="-122"/>
                <a:cs typeface="Calibri" pitchFamily="34" charset="-120"/>
              </a:rPr>
              <a:t>Record the running cost, then tear the environment down</a:t>
            </a:r>
            <a:endParaRPr lang="en-US" sz="1050" dirty="0"/>
          </a:p>
        </p:txBody>
      </p:sp>
      <p:sp>
        <p:nvSpPr>
          <p:cNvPr id="26" name="Shape 24"/>
          <p:cNvSpPr/>
          <p:nvPr/>
        </p:nvSpPr>
        <p:spPr>
          <a:xfrm>
            <a:off x="548640" y="5074920"/>
            <a:ext cx="11064240" cy="1143000"/>
          </a:xfrm>
          <a:prstGeom prst="roundRect">
            <a:avLst>
              <a:gd name="adj" fmla="val 4000"/>
            </a:avLst>
          </a:prstGeom>
          <a:solidFill>
            <a:srgbClr val="A3B18A"/>
          </a:solidFill>
          <a:ln w="12700">
            <a:solidFill>
              <a:srgbClr val="C3CBB5"/>
            </a:solidFill>
            <a:prstDash val="solid"/>
          </a:ln>
        </p:spPr>
      </p:sp>
      <p:sp>
        <p:nvSpPr>
          <p:cNvPr id="27" name="Text 25"/>
          <p:cNvSpPr/>
          <p:nvPr/>
        </p:nvSpPr>
        <p:spPr>
          <a:xfrm>
            <a:off x="777240" y="5175504"/>
            <a:ext cx="2743200" cy="256032"/>
          </a:xfrm>
          <a:prstGeom prst="rect">
            <a:avLst/>
          </a:prstGeom>
          <a:noFill/>
          <a:ln/>
        </p:spPr>
        <p:txBody>
          <a:bodyPr wrap="square" rtlCol="0" anchor="ctr"/>
          <a:lstStyle/>
          <a:p>
            <a:pPr indent="0" marL="0">
              <a:buNone/>
            </a:pPr>
            <a:r>
              <a:rPr lang="en-US" sz="1200" b="1" dirty="0">
                <a:solidFill>
                  <a:srgbClr val="344E41"/>
                </a:solidFill>
                <a:latin typeface="Calibri" pitchFamily="34" charset="0"/>
                <a:ea typeface="Calibri" pitchFamily="34" charset="-122"/>
                <a:cs typeface="Calibri" pitchFamily="34" charset="-120"/>
              </a:rPr>
              <a:t>Stated plainly</a:t>
            </a:r>
            <a:endParaRPr lang="en-US" sz="1200" dirty="0"/>
          </a:p>
        </p:txBody>
      </p:sp>
      <p:sp>
        <p:nvSpPr>
          <p:cNvPr id="28" name="Text 26"/>
          <p:cNvSpPr/>
          <p:nvPr/>
        </p:nvSpPr>
        <p:spPr>
          <a:xfrm>
            <a:off x="777240" y="5449824"/>
            <a:ext cx="10607040" cy="685800"/>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The environment has not been provisioned yet. What exists is a complete, validated infrastructure definition that creates it in a single command. We chose to invest the time in making the deployment reproducible rather than clicking through the portal once and screenshotting the result.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3B18A"/>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3A5A40"/>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DAD7CD"/>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DAD7CD"/>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DAD7CD"/>
                </a:solidFill>
                <a:latin typeface="Calibri" pitchFamily="34" charset="0"/>
                <a:ea typeface="Calibri" pitchFamily="34" charset="-122"/>
                <a:cs typeface="Calibri" pitchFamily="34" charset="-120"/>
              </a:rPr>
              <a:t>16</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Challenges and Considerations</a:t>
            </a:r>
            <a:endParaRPr lang="en-US" sz="3000" dirty="0"/>
          </a:p>
        </p:txBody>
      </p:sp>
      <p:sp>
        <p:nvSpPr>
          <p:cNvPr id="7" name="Text 5"/>
          <p:cNvSpPr/>
          <p:nvPr/>
        </p:nvSpPr>
        <p:spPr>
          <a:xfrm>
            <a:off x="548640" y="932688"/>
            <a:ext cx="10607040" cy="310896"/>
          </a:xfrm>
          <a:prstGeom prst="rect">
            <a:avLst/>
          </a:prstGeom>
          <a:noFill/>
          <a:ln/>
        </p:spPr>
        <p:txBody>
          <a:bodyPr wrap="square" rtlCol="0" anchor="ctr"/>
          <a:lstStyle/>
          <a:p>
            <a:pPr indent="0" marL="0">
              <a:buNone/>
            </a:pPr>
            <a:r>
              <a:rPr lang="en-US" sz="1250" dirty="0">
                <a:solidFill>
                  <a:srgbClr val="3A5A40"/>
                </a:solidFill>
                <a:latin typeface="Calibri" pitchFamily="34" charset="0"/>
                <a:ea typeface="Calibri" pitchFamily="34" charset="-122"/>
                <a:cs typeface="Calibri" pitchFamily="34" charset="-120"/>
              </a:rPr>
              <a:t>Problems we had to design around, stated honestly</a:t>
            </a:r>
            <a:endParaRPr lang="en-US" sz="1250" dirty="0"/>
          </a:p>
        </p:txBody>
      </p:sp>
      <p:sp>
        <p:nvSpPr>
          <p:cNvPr id="8" name="Shape 6"/>
          <p:cNvSpPr/>
          <p:nvPr/>
        </p:nvSpPr>
        <p:spPr>
          <a:xfrm>
            <a:off x="548640" y="1463040"/>
            <a:ext cx="3520440" cy="2011680"/>
          </a:xfrm>
          <a:prstGeom prst="roundRect">
            <a:avLst>
              <a:gd name="adj" fmla="val 2273"/>
            </a:avLst>
          </a:prstGeom>
          <a:solidFill>
            <a:srgbClr val="FFFFFF"/>
          </a:solidFill>
          <a:ln w="12700">
            <a:solidFill>
              <a:srgbClr val="C3CBB5"/>
            </a:solidFill>
            <a:prstDash val="solid"/>
          </a:ln>
        </p:spPr>
      </p:sp>
      <p:sp>
        <p:nvSpPr>
          <p:cNvPr id="9" name="Text 7"/>
          <p:cNvSpPr/>
          <p:nvPr/>
        </p:nvSpPr>
        <p:spPr>
          <a:xfrm>
            <a:off x="749808"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Streamlit holds session state in memory</a:t>
            </a:r>
            <a:endParaRPr lang="en-US" sz="1350" dirty="0"/>
          </a:p>
        </p:txBody>
      </p:sp>
      <p:sp>
        <p:nvSpPr>
          <p:cNvPr id="10" name="Text 8"/>
          <p:cNvSpPr/>
          <p:nvPr/>
        </p:nvSpPr>
        <p:spPr>
          <a:xfrm>
            <a:off x="749808" y="1920240"/>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 user sent to a different instance mid-session would be logged out. Solved with cookie-based session affinity on the Application Gateway.</a:t>
            </a:r>
            <a:endParaRPr lang="en-US" sz="1100" dirty="0"/>
          </a:p>
        </p:txBody>
      </p:sp>
      <p:sp>
        <p:nvSpPr>
          <p:cNvPr id="11" name="Shape 9"/>
          <p:cNvSpPr/>
          <p:nvPr/>
        </p:nvSpPr>
        <p:spPr>
          <a:xfrm>
            <a:off x="4325112" y="1463040"/>
            <a:ext cx="3520440" cy="2011680"/>
          </a:xfrm>
          <a:prstGeom prst="roundRect">
            <a:avLst>
              <a:gd name="adj" fmla="val 2273"/>
            </a:avLst>
          </a:prstGeom>
          <a:solidFill>
            <a:srgbClr val="FFFFFF"/>
          </a:solidFill>
          <a:ln w="12700">
            <a:solidFill>
              <a:srgbClr val="C3CBB5"/>
            </a:solidFill>
            <a:prstDash val="solid"/>
          </a:ln>
        </p:spPr>
      </p:sp>
      <p:sp>
        <p:nvSpPr>
          <p:cNvPr id="12" name="Text 10"/>
          <p:cNvSpPr/>
          <p:nvPr/>
        </p:nvSpPr>
        <p:spPr>
          <a:xfrm>
            <a:off x="4526280"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Burstable tiers cannot do HA</a:t>
            </a:r>
            <a:endParaRPr lang="en-US" sz="1350" dirty="0"/>
          </a:p>
        </p:txBody>
      </p:sp>
      <p:sp>
        <p:nvSpPr>
          <p:cNvPr id="13" name="Text 11"/>
          <p:cNvSpPr/>
          <p:nvPr/>
        </p:nvSpPr>
        <p:spPr>
          <a:xfrm>
            <a:off x="4526280" y="1920240"/>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affordable database tier does not support zone redundancy. The template takes a flag and reports which mode is actually active.</a:t>
            </a:r>
            <a:endParaRPr lang="en-US" sz="1100" dirty="0"/>
          </a:p>
        </p:txBody>
      </p:sp>
      <p:sp>
        <p:nvSpPr>
          <p:cNvPr id="14" name="Shape 12"/>
          <p:cNvSpPr/>
          <p:nvPr/>
        </p:nvSpPr>
        <p:spPr>
          <a:xfrm>
            <a:off x="8101584" y="1463040"/>
            <a:ext cx="3520440" cy="2011680"/>
          </a:xfrm>
          <a:prstGeom prst="roundRect">
            <a:avLst>
              <a:gd name="adj" fmla="val 2273"/>
            </a:avLst>
          </a:prstGeom>
          <a:solidFill>
            <a:srgbClr val="FFFFFF"/>
          </a:solidFill>
          <a:ln w="12700">
            <a:solidFill>
              <a:srgbClr val="C3CBB5"/>
            </a:solidFill>
            <a:prstDash val="solid"/>
          </a:ln>
        </p:spPr>
      </p:sp>
      <p:sp>
        <p:nvSpPr>
          <p:cNvPr id="15" name="Text 13"/>
          <p:cNvSpPr/>
          <p:nvPr/>
        </p:nvSpPr>
        <p:spPr>
          <a:xfrm>
            <a:off x="8302752" y="159105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The database has no public endpoint</a:t>
            </a:r>
            <a:endParaRPr lang="en-US" sz="1350" dirty="0"/>
          </a:p>
        </p:txBody>
      </p:sp>
      <p:sp>
        <p:nvSpPr>
          <p:cNvPr id="16" name="Text 14"/>
          <p:cNvSpPr/>
          <p:nvPr/>
        </p:nvSpPr>
        <p:spPr>
          <a:xfrm>
            <a:off x="8302752" y="1920240"/>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Deliberate, but it means the schema cannot be loaded from a laptop. We load it by running a command on an instance already inside the VNet.</a:t>
            </a:r>
            <a:endParaRPr lang="en-US" sz="1100" dirty="0"/>
          </a:p>
        </p:txBody>
      </p:sp>
      <p:sp>
        <p:nvSpPr>
          <p:cNvPr id="17" name="Shape 15"/>
          <p:cNvSpPr/>
          <p:nvPr/>
        </p:nvSpPr>
        <p:spPr>
          <a:xfrm>
            <a:off x="548640" y="3730752"/>
            <a:ext cx="3520440" cy="2011680"/>
          </a:xfrm>
          <a:prstGeom prst="roundRect">
            <a:avLst>
              <a:gd name="adj" fmla="val 2273"/>
            </a:avLst>
          </a:prstGeom>
          <a:solidFill>
            <a:srgbClr val="FFFFFF"/>
          </a:solidFill>
          <a:ln w="12700">
            <a:solidFill>
              <a:srgbClr val="C3CBB5"/>
            </a:solidFill>
            <a:prstDash val="solid"/>
          </a:ln>
        </p:spPr>
      </p:sp>
      <p:sp>
        <p:nvSpPr>
          <p:cNvPr id="18" name="Text 16"/>
          <p:cNvSpPr/>
          <p:nvPr/>
        </p:nvSpPr>
        <p:spPr>
          <a:xfrm>
            <a:off x="749808" y="385876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Cost can run away quietly</a:t>
            </a:r>
            <a:endParaRPr lang="en-US" sz="1350" dirty="0"/>
          </a:p>
        </p:txBody>
      </p:sp>
      <p:sp>
        <p:nvSpPr>
          <p:cNvPr id="19" name="Text 17"/>
          <p:cNvSpPr/>
          <p:nvPr/>
        </p:nvSpPr>
        <p:spPr>
          <a:xfrm>
            <a:off x="749808" y="4187952"/>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An idle Application Gateway bills by the hour. Mitigated with a teardown script, a capped instance count and a budget alert.</a:t>
            </a:r>
            <a:endParaRPr lang="en-US" sz="1100" dirty="0"/>
          </a:p>
        </p:txBody>
      </p:sp>
      <p:sp>
        <p:nvSpPr>
          <p:cNvPr id="20" name="Shape 18"/>
          <p:cNvSpPr/>
          <p:nvPr/>
        </p:nvSpPr>
        <p:spPr>
          <a:xfrm>
            <a:off x="4325112" y="3730752"/>
            <a:ext cx="3520440" cy="2011680"/>
          </a:xfrm>
          <a:prstGeom prst="roundRect">
            <a:avLst>
              <a:gd name="adj" fmla="val 2273"/>
            </a:avLst>
          </a:prstGeom>
          <a:solidFill>
            <a:srgbClr val="FFFFFF"/>
          </a:solidFill>
          <a:ln w="12700">
            <a:solidFill>
              <a:srgbClr val="C3CBB5"/>
            </a:solidFill>
            <a:prstDash val="solid"/>
          </a:ln>
        </p:spPr>
      </p:sp>
      <p:sp>
        <p:nvSpPr>
          <p:cNvPr id="21" name="Text 19"/>
          <p:cNvSpPr/>
          <p:nvPr/>
        </p:nvSpPr>
        <p:spPr>
          <a:xfrm>
            <a:off x="4526280" y="385876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Binary logging blocks trigger creation</a:t>
            </a:r>
            <a:endParaRPr lang="en-US" sz="1350" dirty="0"/>
          </a:p>
        </p:txBody>
      </p:sp>
      <p:sp>
        <p:nvSpPr>
          <p:cNvPr id="22" name="Text 20"/>
          <p:cNvSpPr/>
          <p:nvPr/>
        </p:nvSpPr>
        <p:spPr>
          <a:xfrm>
            <a:off x="4526280" y="4187952"/>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Azure MySQL needs log_bin_trust_function_creators set before the import, or it fails partway through.</a:t>
            </a:r>
            <a:endParaRPr lang="en-US" sz="1100" dirty="0"/>
          </a:p>
        </p:txBody>
      </p:sp>
      <p:sp>
        <p:nvSpPr>
          <p:cNvPr id="23" name="Shape 21"/>
          <p:cNvSpPr/>
          <p:nvPr/>
        </p:nvSpPr>
        <p:spPr>
          <a:xfrm>
            <a:off x="8101584" y="3730752"/>
            <a:ext cx="3520440" cy="2011680"/>
          </a:xfrm>
          <a:prstGeom prst="roundRect">
            <a:avLst>
              <a:gd name="adj" fmla="val 2273"/>
            </a:avLst>
          </a:prstGeom>
          <a:solidFill>
            <a:srgbClr val="FFFFFF"/>
          </a:solidFill>
          <a:ln w="12700">
            <a:solidFill>
              <a:srgbClr val="C3CBB5"/>
            </a:solidFill>
            <a:prstDash val="solid"/>
          </a:ln>
        </p:spPr>
      </p:sp>
      <p:sp>
        <p:nvSpPr>
          <p:cNvPr id="24" name="Text 22"/>
          <p:cNvSpPr/>
          <p:nvPr/>
        </p:nvSpPr>
        <p:spPr>
          <a:xfrm>
            <a:off x="8302752" y="3858768"/>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Vendor lock-in</a:t>
            </a:r>
            <a:endParaRPr lang="en-US" sz="1350" dirty="0"/>
          </a:p>
        </p:txBody>
      </p:sp>
      <p:sp>
        <p:nvSpPr>
          <p:cNvPr id="25" name="Text 23"/>
          <p:cNvSpPr/>
          <p:nvPr/>
        </p:nvSpPr>
        <p:spPr>
          <a:xfrm>
            <a:off x="8302752" y="4187952"/>
            <a:ext cx="3118104" cy="140817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Managed services make moving provider harder. Mitigated by keeping standard MySQL and plain Python, so only the infrastructure layer is Azure-specific.</a:t>
            </a:r>
            <a:endParaRPr lang="en-US" sz="1100" dirty="0"/>
          </a:p>
        </p:txBody>
      </p:sp>
      <p:sp>
        <p:nvSpPr>
          <p:cNvPr id="26" name="Text 24"/>
          <p:cNvSpPr/>
          <p:nvPr/>
        </p:nvSpPr>
        <p:spPr>
          <a:xfrm>
            <a:off x="548640" y="5760720"/>
            <a:ext cx="11064240" cy="365760"/>
          </a:xfrm>
          <a:prstGeom prst="rect">
            <a:avLst/>
          </a:prstGeom>
          <a:noFill/>
          <a:ln/>
        </p:spPr>
        <p:txBody>
          <a:bodyPr wrap="square" rtlCol="0" anchor="ctr"/>
          <a:lstStyle/>
          <a:p>
            <a:pPr indent="0" marL="0">
              <a:buNone/>
            </a:pPr>
            <a:r>
              <a:rPr lang="en-US" sz="1100" i="1" dirty="0">
                <a:solidFill>
                  <a:srgbClr val="3A5A40"/>
                </a:solidFill>
                <a:latin typeface="Calibri" pitchFamily="34" charset="0"/>
                <a:ea typeface="Calibri" pitchFamily="34" charset="-122"/>
                <a:cs typeface="Calibri" pitchFamily="34" charset="-120"/>
              </a:rPr>
              <a:t>Every item here was found while writing the templates, not during the presentation. Each one has a mitigation already in the code.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AD7CD"/>
        </a:solidFill>
      </p:bgPr>
    </p:bg>
    <p:spTree>
      <p:nvGrpSpPr>
        <p:cNvPr id="1" name=""/>
        <p:cNvGrpSpPr/>
        <p:nvPr/>
      </p:nvGrpSpPr>
      <p:grpSpPr>
        <a:xfrm>
          <a:off x="0" y="0"/>
          <a:ext cx="0" cy="0"/>
          <a:chOff x="0" y="0"/>
          <a:chExt cx="0" cy="0"/>
        </a:xfrm>
      </p:grpSpPr>
      <p:sp>
        <p:nvSpPr>
          <p:cNvPr id="2" name="Shape 0"/>
          <p:cNvSpPr/>
          <p:nvPr/>
        </p:nvSpPr>
        <p:spPr>
          <a:xfrm>
            <a:off x="0" y="6455664"/>
            <a:ext cx="12188952" cy="402336"/>
          </a:xfrm>
          <a:prstGeom prst="rect">
            <a:avLst/>
          </a:prstGeom>
          <a:solidFill>
            <a:srgbClr val="A3B18A"/>
          </a:solidFill>
          <a:ln/>
        </p:spPr>
      </p:sp>
      <p:sp>
        <p:nvSpPr>
          <p:cNvPr id="3" name="Text 1"/>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4" name="Text 2"/>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
        <p:nvSpPr>
          <p:cNvPr id="5" name="Text 3"/>
          <p:cNvSpPr/>
          <p:nvPr/>
        </p:nvSpPr>
        <p:spPr>
          <a:xfrm>
            <a:off x="11155680" y="6528816"/>
            <a:ext cx="548640" cy="256032"/>
          </a:xfrm>
          <a:prstGeom prst="rect">
            <a:avLst/>
          </a:prstGeom>
          <a:noFill/>
          <a:ln/>
        </p:spPr>
        <p:txBody>
          <a:bodyPr wrap="square" rtlCol="0" anchor="ctr"/>
          <a:lstStyle/>
          <a:p>
            <a:pPr algn="r" indent="0" marL="0">
              <a:buNone/>
            </a:pPr>
            <a:r>
              <a:rPr lang="en-US" sz="1000" dirty="0">
                <a:solidFill>
                  <a:srgbClr val="344E41"/>
                </a:solidFill>
                <a:latin typeface="Calibri" pitchFamily="34" charset="0"/>
                <a:ea typeface="Calibri" pitchFamily="34" charset="-122"/>
                <a:cs typeface="Calibri" pitchFamily="34" charset="-120"/>
              </a:rPr>
              <a:t>17</a:t>
            </a:r>
            <a:endParaRPr lang="en-US" sz="1000" dirty="0"/>
          </a:p>
        </p:txBody>
      </p:sp>
      <p:sp>
        <p:nvSpPr>
          <p:cNvPr id="6" name="Text 4"/>
          <p:cNvSpPr/>
          <p:nvPr/>
        </p:nvSpPr>
        <p:spPr>
          <a:xfrm>
            <a:off x="548640" y="365760"/>
            <a:ext cx="10058400" cy="566928"/>
          </a:xfrm>
          <a:prstGeom prst="rect">
            <a:avLst/>
          </a:prstGeom>
          <a:noFill/>
          <a:ln/>
        </p:spPr>
        <p:txBody>
          <a:bodyPr wrap="square" rtlCol="0" anchor="ctr"/>
          <a:lstStyle/>
          <a:p>
            <a:pPr indent="0" marL="0">
              <a:buNone/>
            </a:pPr>
            <a:r>
              <a:rPr lang="en-US" sz="3000" b="1" dirty="0">
                <a:solidFill>
                  <a:srgbClr val="344E41"/>
                </a:solidFill>
                <a:latin typeface="Calibri" pitchFamily="34" charset="0"/>
                <a:ea typeface="Calibri" pitchFamily="34" charset="-122"/>
                <a:cs typeface="Calibri" pitchFamily="34" charset="-120"/>
              </a:rPr>
              <a:t>Conclusion and Future Scope</a:t>
            </a:r>
            <a:endParaRPr lang="en-US" sz="3000" dirty="0"/>
          </a:p>
        </p:txBody>
      </p:sp>
      <p:sp>
        <p:nvSpPr>
          <p:cNvPr id="7" name="Shape 5"/>
          <p:cNvSpPr/>
          <p:nvPr/>
        </p:nvSpPr>
        <p:spPr>
          <a:xfrm>
            <a:off x="548640" y="1417320"/>
            <a:ext cx="3520440" cy="1234440"/>
          </a:xfrm>
          <a:prstGeom prst="roundRect">
            <a:avLst>
              <a:gd name="adj" fmla="val 3704"/>
            </a:avLst>
          </a:prstGeom>
          <a:solidFill>
            <a:srgbClr val="FFFFFF"/>
          </a:solidFill>
          <a:ln w="12700">
            <a:solidFill>
              <a:srgbClr val="C3CBB5"/>
            </a:solidFill>
            <a:prstDash val="solid"/>
          </a:ln>
        </p:spPr>
      </p:sp>
      <p:sp>
        <p:nvSpPr>
          <p:cNvPr id="8" name="Text 6"/>
          <p:cNvSpPr/>
          <p:nvPr/>
        </p:nvSpPr>
        <p:spPr>
          <a:xfrm>
            <a:off x="749808" y="154533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Always available</a:t>
            </a:r>
            <a:endParaRPr lang="en-US" sz="1350" dirty="0"/>
          </a:p>
        </p:txBody>
      </p:sp>
      <p:sp>
        <p:nvSpPr>
          <p:cNvPr id="9" name="Text 7"/>
          <p:cNvSpPr/>
          <p:nvPr/>
        </p:nvSpPr>
        <p:spPr>
          <a:xfrm>
            <a:off x="749808" y="187452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Spreading across two zones removes the single point of failure the laptop version had.</a:t>
            </a:r>
            <a:endParaRPr lang="en-US" sz="1100" dirty="0"/>
          </a:p>
        </p:txBody>
      </p:sp>
      <p:sp>
        <p:nvSpPr>
          <p:cNvPr id="10" name="Shape 8"/>
          <p:cNvSpPr/>
          <p:nvPr/>
        </p:nvSpPr>
        <p:spPr>
          <a:xfrm>
            <a:off x="4325112" y="1417320"/>
            <a:ext cx="3520440" cy="1234440"/>
          </a:xfrm>
          <a:prstGeom prst="roundRect">
            <a:avLst>
              <a:gd name="adj" fmla="val 3704"/>
            </a:avLst>
          </a:prstGeom>
          <a:solidFill>
            <a:srgbClr val="FFFFFF"/>
          </a:solidFill>
          <a:ln w="12700">
            <a:solidFill>
              <a:srgbClr val="C3CBB5"/>
            </a:solidFill>
            <a:prstDash val="solid"/>
          </a:ln>
        </p:spPr>
      </p:sp>
      <p:sp>
        <p:nvSpPr>
          <p:cNvPr id="11" name="Text 9"/>
          <p:cNvSpPr/>
          <p:nvPr/>
        </p:nvSpPr>
        <p:spPr>
          <a:xfrm>
            <a:off x="4526280" y="154533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Reachable anywhere</a:t>
            </a:r>
            <a:endParaRPr lang="en-US" sz="1350" dirty="0"/>
          </a:p>
        </p:txBody>
      </p:sp>
      <p:sp>
        <p:nvSpPr>
          <p:cNvPr id="12" name="Text 10"/>
          <p:cNvSpPr/>
          <p:nvPr/>
        </p:nvSpPr>
        <p:spPr>
          <a:xfrm>
            <a:off x="4526280" y="187452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Staff open a browser; nothing is installed on any hotel computer.</a:t>
            </a:r>
            <a:endParaRPr lang="en-US" sz="1100" dirty="0"/>
          </a:p>
        </p:txBody>
      </p:sp>
      <p:sp>
        <p:nvSpPr>
          <p:cNvPr id="13" name="Shape 11"/>
          <p:cNvSpPr/>
          <p:nvPr/>
        </p:nvSpPr>
        <p:spPr>
          <a:xfrm>
            <a:off x="8101584" y="1417320"/>
            <a:ext cx="3520440" cy="1234440"/>
          </a:xfrm>
          <a:prstGeom prst="roundRect">
            <a:avLst>
              <a:gd name="adj" fmla="val 3704"/>
            </a:avLst>
          </a:prstGeom>
          <a:solidFill>
            <a:srgbClr val="FFFFFF"/>
          </a:solidFill>
          <a:ln w="12700">
            <a:solidFill>
              <a:srgbClr val="C3CBB5"/>
            </a:solidFill>
            <a:prstDash val="solid"/>
          </a:ln>
        </p:spPr>
      </p:sp>
      <p:sp>
        <p:nvSpPr>
          <p:cNvPr id="14" name="Text 12"/>
          <p:cNvSpPr/>
          <p:nvPr/>
        </p:nvSpPr>
        <p:spPr>
          <a:xfrm>
            <a:off x="8302752" y="154533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Follows demand</a:t>
            </a:r>
            <a:endParaRPr lang="en-US" sz="1350" dirty="0"/>
          </a:p>
        </p:txBody>
      </p:sp>
      <p:sp>
        <p:nvSpPr>
          <p:cNvPr id="15" name="Text 13"/>
          <p:cNvSpPr/>
          <p:nvPr/>
        </p:nvSpPr>
        <p:spPr>
          <a:xfrm>
            <a:off x="8302752" y="187452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Capacity rises for the season and falls again, with no one watching.</a:t>
            </a:r>
            <a:endParaRPr lang="en-US" sz="1100" dirty="0"/>
          </a:p>
        </p:txBody>
      </p:sp>
      <p:sp>
        <p:nvSpPr>
          <p:cNvPr id="16" name="Shape 14"/>
          <p:cNvSpPr/>
          <p:nvPr/>
        </p:nvSpPr>
        <p:spPr>
          <a:xfrm>
            <a:off x="548640" y="2880360"/>
            <a:ext cx="3520440" cy="1234440"/>
          </a:xfrm>
          <a:prstGeom prst="roundRect">
            <a:avLst>
              <a:gd name="adj" fmla="val 3704"/>
            </a:avLst>
          </a:prstGeom>
          <a:solidFill>
            <a:srgbClr val="FFFFFF"/>
          </a:solidFill>
          <a:ln w="12700">
            <a:solidFill>
              <a:srgbClr val="C3CBB5"/>
            </a:solidFill>
            <a:prstDash val="solid"/>
          </a:ln>
        </p:spPr>
      </p:sp>
      <p:sp>
        <p:nvSpPr>
          <p:cNvPr id="17" name="Text 15"/>
          <p:cNvSpPr/>
          <p:nvPr/>
        </p:nvSpPr>
        <p:spPr>
          <a:xfrm>
            <a:off x="749808" y="30083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Credentials protected</a:t>
            </a:r>
            <a:endParaRPr lang="en-US" sz="1350" dirty="0"/>
          </a:p>
        </p:txBody>
      </p:sp>
      <p:sp>
        <p:nvSpPr>
          <p:cNvPr id="18" name="Text 16"/>
          <p:cNvSpPr/>
          <p:nvPr/>
        </p:nvSpPr>
        <p:spPr>
          <a:xfrm>
            <a:off x="749808" y="333756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Key Vault and managed identity remove the password from source control.</a:t>
            </a:r>
            <a:endParaRPr lang="en-US" sz="1100" dirty="0"/>
          </a:p>
        </p:txBody>
      </p:sp>
      <p:sp>
        <p:nvSpPr>
          <p:cNvPr id="19" name="Shape 17"/>
          <p:cNvSpPr/>
          <p:nvPr/>
        </p:nvSpPr>
        <p:spPr>
          <a:xfrm>
            <a:off x="4325112" y="2880360"/>
            <a:ext cx="3520440" cy="1234440"/>
          </a:xfrm>
          <a:prstGeom prst="roundRect">
            <a:avLst>
              <a:gd name="adj" fmla="val 3704"/>
            </a:avLst>
          </a:prstGeom>
          <a:solidFill>
            <a:srgbClr val="FFFFFF"/>
          </a:solidFill>
          <a:ln w="12700">
            <a:solidFill>
              <a:srgbClr val="C3CBB5"/>
            </a:solidFill>
            <a:prstDash val="solid"/>
          </a:ln>
        </p:spPr>
      </p:sp>
      <p:sp>
        <p:nvSpPr>
          <p:cNvPr id="20" name="Text 18"/>
          <p:cNvSpPr/>
          <p:nvPr/>
        </p:nvSpPr>
        <p:spPr>
          <a:xfrm>
            <a:off x="4526280" y="30083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Reproducible</a:t>
            </a:r>
            <a:endParaRPr lang="en-US" sz="1350" dirty="0"/>
          </a:p>
        </p:txBody>
      </p:sp>
      <p:sp>
        <p:nvSpPr>
          <p:cNvPr id="21" name="Text 19"/>
          <p:cNvSpPr/>
          <p:nvPr/>
        </p:nvSpPr>
        <p:spPr>
          <a:xfrm>
            <a:off x="4526280" y="333756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The environment is code, so it can be destroyed and rebuilt identically.</a:t>
            </a:r>
            <a:endParaRPr lang="en-US" sz="1100" dirty="0"/>
          </a:p>
        </p:txBody>
      </p:sp>
      <p:sp>
        <p:nvSpPr>
          <p:cNvPr id="22" name="Shape 20"/>
          <p:cNvSpPr/>
          <p:nvPr/>
        </p:nvSpPr>
        <p:spPr>
          <a:xfrm>
            <a:off x="8101584" y="2880360"/>
            <a:ext cx="3520440" cy="1234440"/>
          </a:xfrm>
          <a:prstGeom prst="roundRect">
            <a:avLst>
              <a:gd name="adj" fmla="val 3704"/>
            </a:avLst>
          </a:prstGeom>
          <a:solidFill>
            <a:srgbClr val="FFFFFF"/>
          </a:solidFill>
          <a:ln w="12700">
            <a:solidFill>
              <a:srgbClr val="C3CBB5"/>
            </a:solidFill>
            <a:prstDash val="solid"/>
          </a:ln>
        </p:spPr>
      </p:sp>
      <p:sp>
        <p:nvSpPr>
          <p:cNvPr id="23" name="Text 21"/>
          <p:cNvSpPr/>
          <p:nvPr/>
        </p:nvSpPr>
        <p:spPr>
          <a:xfrm>
            <a:off x="8302752" y="3008376"/>
            <a:ext cx="3118104" cy="274320"/>
          </a:xfrm>
          <a:prstGeom prst="rect">
            <a:avLst/>
          </a:prstGeom>
          <a:noFill/>
          <a:ln/>
        </p:spPr>
        <p:txBody>
          <a:bodyPr wrap="square" rtlCol="0" anchor="ctr"/>
          <a:lstStyle/>
          <a:p>
            <a:pPr indent="0" marL="0">
              <a:buNone/>
            </a:pPr>
            <a:r>
              <a:rPr lang="en-US" sz="1350" b="1" dirty="0">
                <a:solidFill>
                  <a:srgbClr val="344E41"/>
                </a:solidFill>
                <a:latin typeface="Calibri" pitchFamily="34" charset="0"/>
                <a:ea typeface="Calibri" pitchFamily="34" charset="-122"/>
                <a:cs typeface="Calibri" pitchFamily="34" charset="-120"/>
              </a:rPr>
              <a:t>Predictable spend</a:t>
            </a:r>
            <a:endParaRPr lang="en-US" sz="1350" dirty="0"/>
          </a:p>
        </p:txBody>
      </p:sp>
      <p:sp>
        <p:nvSpPr>
          <p:cNvPr id="24" name="Text 22"/>
          <p:cNvSpPr/>
          <p:nvPr/>
        </p:nvSpPr>
        <p:spPr>
          <a:xfrm>
            <a:off x="8302752" y="3337560"/>
            <a:ext cx="3118104" cy="630936"/>
          </a:xfrm>
          <a:prstGeom prst="rect">
            <a:avLst/>
          </a:prstGeom>
          <a:noFill/>
          <a:ln/>
        </p:spPr>
        <p:txBody>
          <a:bodyPr wrap="square" rtlCol="0" anchor="t"/>
          <a:lstStyle/>
          <a:p>
            <a:pPr indent="0" marL="0">
              <a:lnSpc>
                <a:spcPts val="1500"/>
              </a:lnSpc>
              <a:buNone/>
            </a:pPr>
            <a:r>
              <a:rPr lang="en-US" sz="1100" dirty="0">
                <a:solidFill>
                  <a:srgbClr val="344E41"/>
                </a:solidFill>
                <a:latin typeface="Calibri" pitchFamily="34" charset="0"/>
                <a:ea typeface="Calibri" pitchFamily="34" charset="-122"/>
                <a:cs typeface="Calibri" pitchFamily="34" charset="-120"/>
              </a:rPr>
              <a:t>Monthly operating cost in place of an upfront hardware purchase.</a:t>
            </a:r>
            <a:endParaRPr lang="en-US" sz="1100" dirty="0"/>
          </a:p>
        </p:txBody>
      </p:sp>
      <p:sp>
        <p:nvSpPr>
          <p:cNvPr id="25" name="Text 23"/>
          <p:cNvSpPr/>
          <p:nvPr/>
        </p:nvSpPr>
        <p:spPr>
          <a:xfrm>
            <a:off x="548640" y="4251960"/>
            <a:ext cx="4572000" cy="274320"/>
          </a:xfrm>
          <a:prstGeom prst="rect">
            <a:avLst/>
          </a:prstGeom>
          <a:noFill/>
          <a:ln/>
        </p:spPr>
        <p:txBody>
          <a:bodyPr wrap="square" rtlCol="0" anchor="ctr"/>
          <a:lstStyle/>
          <a:p>
            <a:pPr indent="0" marL="0">
              <a:buNone/>
            </a:pPr>
            <a:r>
              <a:rPr lang="en-US" sz="1350" b="1" dirty="0">
                <a:solidFill>
                  <a:srgbClr val="588157"/>
                </a:solidFill>
                <a:latin typeface="Calibri" pitchFamily="34" charset="0"/>
                <a:ea typeface="Calibri" pitchFamily="34" charset="-122"/>
                <a:cs typeface="Calibri" pitchFamily="34" charset="-120"/>
              </a:rPr>
              <a:t>Future scope</a:t>
            </a:r>
            <a:endParaRPr lang="en-US" sz="1350" dirty="0"/>
          </a:p>
        </p:txBody>
      </p:sp>
      <p:sp>
        <p:nvSpPr>
          <p:cNvPr id="26" name="Text 24"/>
          <p:cNvSpPr/>
          <p:nvPr/>
        </p:nvSpPr>
        <p:spPr>
          <a:xfrm>
            <a:off x="548640" y="4572000"/>
            <a:ext cx="5669280" cy="1645920"/>
          </a:xfrm>
          <a:prstGeom prst="rect">
            <a:avLst/>
          </a:prstGeom>
          <a:noFill/>
          <a:ln/>
        </p:spPr>
        <p:txBody>
          <a:bodyPr wrap="square" rtlCol="0" anchor="t"/>
          <a:lstStyle/>
          <a:p>
            <a:pPr marL="342900" indent="-342900">
              <a:lnSpc>
                <a:spcPts val="1540"/>
              </a:lnSpc>
              <a:spcAft>
                <a:spcPts val="700"/>
              </a:spcAft>
              <a:buSzPct val="100000"/>
              <a:buChar char="▪"/>
            </a:pPr>
            <a:r>
              <a:rPr lang="en-US" sz="1100" dirty="0">
                <a:solidFill>
                  <a:srgbClr val="344E41"/>
                </a:solidFill>
                <a:latin typeface="Calibri" pitchFamily="34" charset="0"/>
                <a:ea typeface="Calibri" pitchFamily="34" charset="-122"/>
                <a:cs typeface="Calibri" pitchFamily="34" charset="-120"/>
              </a:rPr>
              <a:t>Containerise the application and run it on Azure Kubernetes Service</a:t>
            </a:r>
            <a:endParaRPr lang="en-US" sz="1100" dirty="0"/>
          </a:p>
          <a:p>
            <a:pPr marL="342900" indent="-342900">
              <a:lnSpc>
                <a:spcPts val="1540"/>
              </a:lnSpc>
              <a:spcAft>
                <a:spcPts val="700"/>
              </a:spcAft>
              <a:buSzPct val="100000"/>
              <a:buChar char="▪"/>
            </a:pPr>
            <a:r>
              <a:rPr lang="en-US" sz="1100" dirty="0">
                <a:solidFill>
                  <a:srgbClr val="344E41"/>
                </a:solidFill>
                <a:latin typeface="Calibri" pitchFamily="34" charset="0"/>
                <a:ea typeface="Calibri" pitchFamily="34" charset="-122"/>
                <a:cs typeface="Calibri" pitchFamily="34" charset="-120"/>
              </a:rPr>
              <a:t>Add read replicas so reporting queries do not compete with bookings</a:t>
            </a:r>
            <a:endParaRPr lang="en-US" sz="1100" dirty="0"/>
          </a:p>
          <a:p>
            <a:pPr marL="342900" indent="-342900">
              <a:lnSpc>
                <a:spcPts val="1540"/>
              </a:lnSpc>
              <a:spcAft>
                <a:spcPts val="700"/>
              </a:spcAft>
              <a:buSzPct val="100000"/>
              <a:buChar char="▪"/>
            </a:pPr>
            <a:r>
              <a:rPr lang="en-US" sz="1100" dirty="0">
                <a:solidFill>
                  <a:srgbClr val="344E41"/>
                </a:solidFill>
                <a:latin typeface="Calibri" pitchFamily="34" charset="0"/>
                <a:ea typeface="Calibri" pitchFamily="34" charset="-122"/>
                <a:cs typeface="Calibri" pitchFamily="34" charset="-120"/>
              </a:rPr>
              <a:t>Introduce a CI/CD pipeline in GitHub Actions, so a commit deploys itself</a:t>
            </a:r>
            <a:endParaRPr lang="en-US" sz="1100" dirty="0"/>
          </a:p>
          <a:p>
            <a:pPr marL="342900" indent="-342900">
              <a:lnSpc>
                <a:spcPts val="1540"/>
              </a:lnSpc>
              <a:spcAft>
                <a:spcPts val="700"/>
              </a:spcAft>
              <a:buSzPct val="100000"/>
              <a:buChar char="▪"/>
            </a:pPr>
            <a:r>
              <a:rPr lang="en-US" sz="1100" dirty="0">
                <a:solidFill>
                  <a:srgbClr val="344E41"/>
                </a:solidFill>
                <a:latin typeface="Calibri" pitchFamily="34" charset="0"/>
                <a:ea typeface="Calibri" pitchFamily="34" charset="-122"/>
                <a:cs typeface="Calibri" pitchFamily="34" charset="-120"/>
              </a:rPr>
              <a:t>Extend to a second region for disaster recovery beyond a single geography</a:t>
            </a:r>
            <a:endParaRPr lang="en-US" sz="1100" dirty="0"/>
          </a:p>
        </p:txBody>
      </p:sp>
      <p:sp>
        <p:nvSpPr>
          <p:cNvPr id="27" name="Shape 25"/>
          <p:cNvSpPr/>
          <p:nvPr/>
        </p:nvSpPr>
        <p:spPr>
          <a:xfrm>
            <a:off x="6400800" y="4251960"/>
            <a:ext cx="5212080" cy="1965960"/>
          </a:xfrm>
          <a:prstGeom prst="roundRect">
            <a:avLst>
              <a:gd name="adj" fmla="val 2326"/>
            </a:avLst>
          </a:prstGeom>
          <a:solidFill>
            <a:srgbClr val="A3B18A"/>
          </a:solidFill>
          <a:ln w="12700">
            <a:solidFill>
              <a:srgbClr val="C3CBB5"/>
            </a:solidFill>
            <a:prstDash val="solid"/>
          </a:ln>
        </p:spPr>
      </p:sp>
      <p:sp>
        <p:nvSpPr>
          <p:cNvPr id="28" name="Text 26"/>
          <p:cNvSpPr/>
          <p:nvPr/>
        </p:nvSpPr>
        <p:spPr>
          <a:xfrm>
            <a:off x="6629400" y="4370832"/>
            <a:ext cx="2743200" cy="256032"/>
          </a:xfrm>
          <a:prstGeom prst="rect">
            <a:avLst/>
          </a:prstGeom>
          <a:noFill/>
          <a:ln/>
        </p:spPr>
        <p:txBody>
          <a:bodyPr wrap="square" rtlCol="0" anchor="ctr"/>
          <a:lstStyle/>
          <a:p>
            <a:pPr indent="0" marL="0">
              <a:buNone/>
            </a:pPr>
            <a:r>
              <a:rPr lang="en-US" sz="1250" b="1" dirty="0">
                <a:solidFill>
                  <a:srgbClr val="344E41"/>
                </a:solidFill>
                <a:latin typeface="Calibri" pitchFamily="34" charset="0"/>
                <a:ea typeface="Calibri" pitchFamily="34" charset="-122"/>
                <a:cs typeface="Calibri" pitchFamily="34" charset="-120"/>
              </a:rPr>
              <a:t>Conclusion</a:t>
            </a:r>
            <a:endParaRPr lang="en-US" sz="1250" dirty="0"/>
          </a:p>
        </p:txBody>
      </p:sp>
      <p:sp>
        <p:nvSpPr>
          <p:cNvPr id="29" name="Text 27"/>
          <p:cNvSpPr/>
          <p:nvPr/>
        </p:nvSpPr>
        <p:spPr>
          <a:xfrm>
            <a:off x="6629400" y="4645152"/>
            <a:ext cx="4800600" cy="1463040"/>
          </a:xfrm>
          <a:prstGeom prst="rect">
            <a:avLst/>
          </a:prstGeom>
          <a:noFill/>
          <a:ln/>
        </p:spPr>
        <p:txBody>
          <a:bodyPr wrap="square" rtlCol="0" anchor="ctr"/>
          <a:lstStyle/>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A working three-tier database application has been designed for migration to Microsoft Azure, using IaaS for compute and PaaS for data, spread across two Availability Zones, and defined entirely as infrastructure code that compiles and validates.</a:t>
            </a:r>
            <a:endParaRPr lang="en-US" sz="1050" dirty="0"/>
          </a:p>
          <a:p>
            <a:pPr indent="0" marL="0">
              <a:lnSpc>
                <a:spcPts val="1400"/>
              </a:lnSpc>
              <a:buNone/>
            </a:pPr>
            <a:endParaRPr lang="en-US" sz="1050" dirty="0"/>
          </a:p>
          <a:p>
            <a:pPr indent="0" marL="0">
              <a:lnSpc>
                <a:spcPts val="1400"/>
              </a:lnSpc>
              <a:buNone/>
            </a:pPr>
            <a:r>
              <a:rPr lang="en-US" sz="1050" dirty="0">
                <a:solidFill>
                  <a:srgbClr val="344E41"/>
                </a:solidFill>
                <a:latin typeface="Calibri" pitchFamily="34" charset="0"/>
                <a:ea typeface="Calibri" pitchFamily="34" charset="-122"/>
                <a:cs typeface="Calibri" pitchFamily="34" charset="-120"/>
              </a:rPr>
              <a:t>The application itself is unchanged - which is the clearest evidence that separating the data access layer from the interface in the database project was the right decision.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AD7CD"/>
        </a:solidFill>
      </p:bgPr>
    </p:bg>
    <p:spTree>
      <p:nvGrpSpPr>
        <p:cNvPr id="1" name=""/>
        <p:cNvGrpSpPr/>
        <p:nvPr/>
      </p:nvGrpSpPr>
      <p:grpSpPr>
        <a:xfrm>
          <a:off x="0" y="0"/>
          <a:ext cx="0" cy="0"/>
          <a:chOff x="0" y="0"/>
          <a:chExt cx="0" cy="0"/>
        </a:xfrm>
      </p:grpSpPr>
      <p:sp>
        <p:nvSpPr>
          <p:cNvPr id="2" name="Text 0"/>
          <p:cNvSpPr/>
          <p:nvPr/>
        </p:nvSpPr>
        <p:spPr>
          <a:xfrm>
            <a:off x="731520" y="2651760"/>
            <a:ext cx="10698480" cy="1005840"/>
          </a:xfrm>
          <a:prstGeom prst="rect">
            <a:avLst/>
          </a:prstGeom>
          <a:noFill/>
          <a:ln/>
        </p:spPr>
        <p:txBody>
          <a:bodyPr wrap="square" rtlCol="0" anchor="ctr"/>
          <a:lstStyle/>
          <a:p>
            <a:pPr algn="ctr" indent="0" marL="0">
              <a:buNone/>
            </a:pPr>
            <a:r>
              <a:rPr lang="en-US" sz="4600" b="1" spc="300" kern="0" dirty="0">
                <a:solidFill>
                  <a:srgbClr val="344E41"/>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731520" y="3657600"/>
            <a:ext cx="10698480" cy="365760"/>
          </a:xfrm>
          <a:prstGeom prst="rect">
            <a:avLst/>
          </a:prstGeom>
          <a:noFill/>
          <a:ln/>
        </p:spPr>
        <p:txBody>
          <a:bodyPr wrap="square" rtlCol="0" anchor="ctr"/>
          <a:lstStyle/>
          <a:p>
            <a:pPr algn="ctr" indent="0" marL="0">
              <a:buNone/>
            </a:pPr>
            <a:r>
              <a:rPr lang="en-US" sz="1500" dirty="0">
                <a:solidFill>
                  <a:srgbClr val="588157"/>
                </a:solidFill>
                <a:latin typeface="Calibri" pitchFamily="34" charset="0"/>
                <a:ea typeface="Calibri" pitchFamily="34" charset="-122"/>
                <a:cs typeface="Calibri" pitchFamily="34" charset="-120"/>
              </a:rPr>
              <a:t>Questions welcome</a:t>
            </a:r>
            <a:endParaRPr lang="en-US" sz="1500" dirty="0"/>
          </a:p>
        </p:txBody>
      </p:sp>
      <p:sp>
        <p:nvSpPr>
          <p:cNvPr id="4" name="Shape 2"/>
          <p:cNvSpPr/>
          <p:nvPr/>
        </p:nvSpPr>
        <p:spPr>
          <a:xfrm>
            <a:off x="0" y="6455664"/>
            <a:ext cx="12188952" cy="402336"/>
          </a:xfrm>
          <a:prstGeom prst="rect">
            <a:avLst/>
          </a:prstGeom>
          <a:solidFill>
            <a:srgbClr val="A3B18A"/>
          </a:solidFill>
          <a:ln/>
        </p:spPr>
      </p:sp>
      <p:sp>
        <p:nvSpPr>
          <p:cNvPr id="5" name="Text 3"/>
          <p:cNvSpPr/>
          <p:nvPr/>
        </p:nvSpPr>
        <p:spPr>
          <a:xfrm>
            <a:off x="502920" y="6528816"/>
            <a:ext cx="1828800" cy="256032"/>
          </a:xfrm>
          <a:prstGeom prst="rect">
            <a:avLst/>
          </a:prstGeom>
          <a:noFill/>
          <a:ln/>
        </p:spPr>
        <p:txBody>
          <a:bodyPr wrap="square" rtlCol="0" anchor="ctr"/>
          <a:lstStyle/>
          <a:p>
            <a:pPr indent="0" marL="0">
              <a:buNone/>
            </a:pPr>
            <a:r>
              <a:rPr lang="en-US" sz="1000" dirty="0">
                <a:solidFill>
                  <a:srgbClr val="344E41"/>
                </a:solidFill>
                <a:latin typeface="Calibri" pitchFamily="34" charset="0"/>
                <a:ea typeface="Calibri" pitchFamily="34" charset="-122"/>
                <a:cs typeface="Calibri" pitchFamily="34" charset="-120"/>
              </a:rPr>
              <a:t>22AIE303</a:t>
            </a:r>
            <a:endParaRPr lang="en-US" sz="1000" dirty="0"/>
          </a:p>
        </p:txBody>
      </p:sp>
      <p:sp>
        <p:nvSpPr>
          <p:cNvPr id="6" name="Text 4"/>
          <p:cNvSpPr/>
          <p:nvPr/>
        </p:nvSpPr>
        <p:spPr>
          <a:xfrm>
            <a:off x="3840480" y="6528816"/>
            <a:ext cx="5029200" cy="256032"/>
          </a:xfrm>
          <a:prstGeom prst="rect">
            <a:avLst/>
          </a:prstGeom>
          <a:noFill/>
          <a:ln/>
        </p:spPr>
        <p:txBody>
          <a:bodyPr wrap="square" rtlCol="0" anchor="ctr"/>
          <a:lstStyle/>
          <a:p>
            <a:pPr algn="ctr" indent="0" marL="0">
              <a:buNone/>
            </a:pPr>
            <a:r>
              <a:rPr lang="en-US" sz="1000" dirty="0">
                <a:solidFill>
                  <a:srgbClr val="344E41"/>
                </a:solidFill>
                <a:latin typeface="Calibri" pitchFamily="34" charset="0"/>
                <a:ea typeface="Calibri" pitchFamily="34" charset="-122"/>
                <a:cs typeface="Calibri" pitchFamily="34" charset="-120"/>
              </a:rPr>
              <a:t>Cloud Computing  ·  Hotel Management System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2026-10-19T09:30:31Z</dcterms:created>
  <dcterms:modified xsi:type="dcterms:W3CDTF">2026-10-19T09:30:31Z</dcterms:modified>
</cp:coreProperties>
</file>